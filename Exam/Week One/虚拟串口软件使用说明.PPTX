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3" r:id="rId18"/>
    <p:sldId id="274" r:id="rId19"/>
    <p:sldId id="272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70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74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17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33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02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372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747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70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51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581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2099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280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0977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876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584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42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01209-6570-4D11-A058-3C1DFD37EF2B}" type="datetimeFigureOut">
              <a:rPr lang="zh-CN" altLang="en-US" smtClean="0"/>
              <a:t>2022/1/5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A25271B-C0B2-4E3A-B24E-9186072EA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4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onlinedown.net/soft/90550.ht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www.onlinedown.net/soft/5.htm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678AF-1B3C-4303-8BA0-B67B944B0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307879"/>
            <a:ext cx="7766936" cy="1646302"/>
          </a:xfrm>
        </p:spPr>
        <p:txBody>
          <a:bodyPr/>
          <a:lstStyle/>
          <a:p>
            <a:pPr algn="l"/>
            <a:r>
              <a:rPr lang="zh-CN" altLang="en-US" dirty="0"/>
              <a:t>主题：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zh-CN" altLang="en-US" dirty="0"/>
              <a:t>虚拟串口的使用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8EF5D8B-C218-4D44-9C66-ECA686A1B8EC}"/>
              </a:ext>
            </a:extLst>
          </p:cNvPr>
          <p:cNvGrpSpPr/>
          <p:nvPr/>
        </p:nvGrpSpPr>
        <p:grpSpPr>
          <a:xfrm>
            <a:off x="6424706" y="4944495"/>
            <a:ext cx="1490628" cy="800738"/>
            <a:chOff x="494346" y="4283316"/>
            <a:chExt cx="1047045" cy="578307"/>
          </a:xfrm>
        </p:grpSpPr>
        <p:sp>
          <p:nvSpPr>
            <p:cNvPr id="16" name="TextBox 74">
              <a:extLst>
                <a:ext uri="{FF2B5EF4-FFF2-40B4-BE49-F238E27FC236}">
                  <a16:creationId xmlns:a16="http://schemas.microsoft.com/office/drawing/2014/main" id="{8A629CB1-ECC7-4FE4-BCB6-92272FCC5C71}"/>
                </a:ext>
              </a:extLst>
            </p:cNvPr>
            <p:cNvSpPr txBox="1"/>
            <p:nvPr/>
          </p:nvSpPr>
          <p:spPr>
            <a:xfrm>
              <a:off x="747350" y="4283316"/>
              <a:ext cx="528309" cy="2889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Yu Gothic UI" panose="020B0500000000000000" pitchFamily="34" charset="-128"/>
                  <a:ea typeface="Yu Gothic UI" panose="020B0500000000000000" pitchFamily="34" charset="-128"/>
                </a:rPr>
                <a:t>XXX</a:t>
              </a:r>
              <a:endParaRPr kumimoji="0" lang="zh-CN" altLang="en-US" sz="2000" b="0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sp>
          <p:nvSpPr>
            <p:cNvPr id="17" name="TextBox 75">
              <a:extLst>
                <a:ext uri="{FF2B5EF4-FFF2-40B4-BE49-F238E27FC236}">
                  <a16:creationId xmlns:a16="http://schemas.microsoft.com/office/drawing/2014/main" id="{869BC879-7924-4BA4-A960-3D9E0CD376BC}"/>
                </a:ext>
              </a:extLst>
            </p:cNvPr>
            <p:cNvSpPr txBox="1"/>
            <p:nvPr/>
          </p:nvSpPr>
          <p:spPr>
            <a:xfrm>
              <a:off x="747350" y="4572657"/>
              <a:ext cx="794041" cy="2889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Yu Gothic UI" panose="020B0500000000000000" pitchFamily="34" charset="-128"/>
                  <a:ea typeface="Yu Gothic UI" panose="020B0500000000000000" pitchFamily="34" charset="-128"/>
                </a:rPr>
                <a:t>SW1-1</a:t>
              </a:r>
              <a:endParaRPr kumimoji="0" lang="zh-CN" altLang="en-US" sz="2000" b="0" i="0" u="none" strike="noStrike" kern="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Yu Gothic UI" panose="020B0500000000000000" pitchFamily="34" charset="-128"/>
                <a:ea typeface="Yu Gothic UI" panose="020B0500000000000000" pitchFamily="34" charset="-128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AC0BC0E4-330A-4C5B-9D26-602D97BEB2FF}"/>
                </a:ext>
              </a:extLst>
            </p:cNvPr>
            <p:cNvGrpSpPr/>
            <p:nvPr/>
          </p:nvGrpSpPr>
          <p:grpSpPr>
            <a:xfrm>
              <a:off x="494346" y="4306671"/>
              <a:ext cx="212885" cy="212885"/>
              <a:chOff x="494346" y="4306671"/>
              <a:chExt cx="212885" cy="212885"/>
            </a:xfrm>
            <a:solidFill>
              <a:srgbClr val="C00000"/>
            </a:solidFill>
          </p:grpSpPr>
          <p:sp>
            <p:nvSpPr>
              <p:cNvPr id="22" name="圆角矩形 80">
                <a:extLst>
                  <a:ext uri="{FF2B5EF4-FFF2-40B4-BE49-F238E27FC236}">
                    <a16:creationId xmlns:a16="http://schemas.microsoft.com/office/drawing/2014/main" id="{1FDF73E4-B8A6-428D-B2E9-0E3F683D7B47}"/>
                  </a:ext>
                </a:extLst>
              </p:cNvPr>
              <p:cNvSpPr/>
              <p:nvPr/>
            </p:nvSpPr>
            <p:spPr>
              <a:xfrm>
                <a:off x="494346" y="4306671"/>
                <a:ext cx="212885" cy="212885"/>
              </a:xfrm>
              <a:prstGeom prst="roundRect">
                <a:avLst>
                  <a:gd name="adj" fmla="val 22526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pic>
            <p:nvPicPr>
              <p:cNvPr id="23" name="Picture 7" descr="F:\0PPT素材\zzz0g02.png">
                <a:extLst>
                  <a:ext uri="{FF2B5EF4-FFF2-40B4-BE49-F238E27FC236}">
                    <a16:creationId xmlns:a16="http://schemas.microsoft.com/office/drawing/2014/main" id="{1AD8F5B7-2879-4635-BFE3-BF07A67B09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4109" y="4337785"/>
                <a:ext cx="133357" cy="150656"/>
              </a:xfrm>
              <a:prstGeom prst="rect">
                <a:avLst/>
              </a:prstGeom>
              <a:grpFill/>
            </p:spPr>
          </p:pic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4BD80BB-7904-4008-B89E-040308B8137D}"/>
                </a:ext>
              </a:extLst>
            </p:cNvPr>
            <p:cNvGrpSpPr/>
            <p:nvPr/>
          </p:nvGrpSpPr>
          <p:grpSpPr>
            <a:xfrm>
              <a:off x="494346" y="4587865"/>
              <a:ext cx="212885" cy="212885"/>
              <a:chOff x="494346" y="4587865"/>
              <a:chExt cx="212885" cy="212885"/>
            </a:xfrm>
            <a:solidFill>
              <a:srgbClr val="C00000"/>
            </a:solidFill>
          </p:grpSpPr>
          <p:sp>
            <p:nvSpPr>
              <p:cNvPr id="20" name="圆角矩形 78">
                <a:extLst>
                  <a:ext uri="{FF2B5EF4-FFF2-40B4-BE49-F238E27FC236}">
                    <a16:creationId xmlns:a16="http://schemas.microsoft.com/office/drawing/2014/main" id="{1E378B37-9978-4681-9D2C-431BC775ACF7}"/>
                  </a:ext>
                </a:extLst>
              </p:cNvPr>
              <p:cNvSpPr/>
              <p:nvPr/>
            </p:nvSpPr>
            <p:spPr>
              <a:xfrm>
                <a:off x="494346" y="4587865"/>
                <a:ext cx="212885" cy="212885"/>
              </a:xfrm>
              <a:prstGeom prst="roundRect">
                <a:avLst>
                  <a:gd name="adj" fmla="val 22526"/>
                </a:avLst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pic>
            <p:nvPicPr>
              <p:cNvPr id="21" name="Picture 8" descr="F:\0PPT素材\zzz0s1.png">
                <a:extLst>
                  <a:ext uri="{FF2B5EF4-FFF2-40B4-BE49-F238E27FC236}">
                    <a16:creationId xmlns:a16="http://schemas.microsoft.com/office/drawing/2014/main" id="{1D6E1E8D-4F1E-4535-AED5-B120D1EC57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6145" y="4614724"/>
                <a:ext cx="169286" cy="162499"/>
              </a:xfrm>
              <a:prstGeom prst="rect">
                <a:avLst/>
              </a:prstGeom>
              <a:grpFill/>
            </p:spPr>
          </p:pic>
        </p:grpSp>
      </p:grpSp>
      <p:sp>
        <p:nvSpPr>
          <p:cNvPr id="24" name="Oval 53">
            <a:extLst>
              <a:ext uri="{FF2B5EF4-FFF2-40B4-BE49-F238E27FC236}">
                <a16:creationId xmlns:a16="http://schemas.microsoft.com/office/drawing/2014/main" id="{9C6B2B8A-6974-4C6E-A3D9-92032AB4C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347" y="3292833"/>
            <a:ext cx="252723" cy="252028"/>
          </a:xfrm>
          <a:prstGeom prst="ellipse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D9DEDF"/>
              </a:gs>
            </a:gsLst>
            <a:lin ang="2700000" scaled="0"/>
            <a:tileRect/>
          </a:gradFill>
          <a:ln w="28575">
            <a:gradFill flip="none" rotWithShape="1">
              <a:gsLst>
                <a:gs pos="0">
                  <a:srgbClr val="FFFFFF"/>
                </a:gs>
                <a:gs pos="100000">
                  <a:srgbClr val="D9D9DA"/>
                </a:gs>
              </a:gsLst>
              <a:lin ang="2700000" scaled="0"/>
              <a:tileRect/>
            </a:gradFill>
          </a:ln>
          <a:effectLst>
            <a:outerShdw blurRad="279400" dist="76200" dir="2700000" sx="101000" sy="101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316" tIns="35658" rIns="71316" bIns="356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5" name="Oval 53">
            <a:extLst>
              <a:ext uri="{FF2B5EF4-FFF2-40B4-BE49-F238E27FC236}">
                <a16:creationId xmlns:a16="http://schemas.microsoft.com/office/drawing/2014/main" id="{92FB199C-3FB6-40DC-AA3B-252EE24B7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700" y="5209256"/>
            <a:ext cx="252723" cy="252028"/>
          </a:xfrm>
          <a:prstGeom prst="ellipse">
            <a:avLst/>
          </a:prstGeom>
          <a:gradFill flip="none" rotWithShape="1">
            <a:gsLst>
              <a:gs pos="100000">
                <a:srgbClr val="FFFFFF"/>
              </a:gs>
              <a:gs pos="0">
                <a:srgbClr val="D9DEDF"/>
              </a:gs>
            </a:gsLst>
            <a:lin ang="2700000" scaled="0"/>
            <a:tileRect/>
          </a:gradFill>
          <a:ln w="28575">
            <a:gradFill flip="none" rotWithShape="1">
              <a:gsLst>
                <a:gs pos="0">
                  <a:srgbClr val="FFFFFF"/>
                </a:gs>
                <a:gs pos="100000">
                  <a:srgbClr val="D9D9DA"/>
                </a:gs>
              </a:gsLst>
              <a:lin ang="2700000" scaled="0"/>
              <a:tileRect/>
            </a:gradFill>
          </a:ln>
          <a:effectLst>
            <a:outerShdw blurRad="279400" dist="76200" dir="2700000" sx="101000" sy="101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316" tIns="35658" rIns="71316" bIns="3565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8E37254-2722-4D1C-B23A-1517D3534D73}"/>
              </a:ext>
            </a:extLst>
          </p:cNvPr>
          <p:cNvGrpSpPr/>
          <p:nvPr/>
        </p:nvGrpSpPr>
        <p:grpSpPr>
          <a:xfrm>
            <a:off x="987423" y="3212412"/>
            <a:ext cx="2458629" cy="245862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51">
              <a:extLst>
                <a:ext uri="{FF2B5EF4-FFF2-40B4-BE49-F238E27FC236}">
                  <a16:creationId xmlns:a16="http://schemas.microsoft.com/office/drawing/2014/main" id="{B29582A7-62DD-411E-9047-D68C54D4703C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5A95C49E-4F0F-4D24-970A-610647C076CB}"/>
                </a:ext>
              </a:extLst>
            </p:cNvPr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A6BCB13-B539-444E-AD9A-FB8FD2CC7B50}"/>
              </a:ext>
            </a:extLst>
          </p:cNvPr>
          <p:cNvGrpSpPr/>
          <p:nvPr/>
        </p:nvGrpSpPr>
        <p:grpSpPr>
          <a:xfrm>
            <a:off x="1828703" y="5781574"/>
            <a:ext cx="226693" cy="226693"/>
            <a:chOff x="2889188" y="1494971"/>
            <a:chExt cx="1360493" cy="1360493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30068FD3-9851-4AE4-B732-07BF6B47CEBD}"/>
                </a:ext>
              </a:extLst>
            </p:cNvPr>
            <p:cNvGrpSpPr/>
            <p:nvPr/>
          </p:nvGrpSpPr>
          <p:grpSpPr>
            <a:xfrm>
              <a:off x="2889188" y="1494971"/>
              <a:ext cx="1360493" cy="1360493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32" name="同心圆 61">
                <a:extLst>
                  <a:ext uri="{FF2B5EF4-FFF2-40B4-BE49-F238E27FC236}">
                    <a16:creationId xmlns:a16="http://schemas.microsoft.com/office/drawing/2014/main" id="{C61D3D33-2706-40CC-826E-C1572C92CB93}"/>
                  </a:ext>
                </a:extLst>
              </p:cNvPr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758E141D-D0E9-40C9-8959-43E82075943C}"/>
                  </a:ext>
                </a:extLst>
              </p:cNvPr>
              <p:cNvSpPr/>
              <p:nvPr/>
            </p:nvSpPr>
            <p:spPr>
              <a:xfrm>
                <a:off x="392113" y="760413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" name="TextBox 60">
              <a:extLst>
                <a:ext uri="{FF2B5EF4-FFF2-40B4-BE49-F238E27FC236}">
                  <a16:creationId xmlns:a16="http://schemas.microsoft.com/office/drawing/2014/main" id="{63496050-C745-4D85-95CE-AC18B265E7CB}"/>
                </a:ext>
              </a:extLst>
            </p:cNvPr>
            <p:cNvSpPr txBox="1"/>
            <p:nvPr/>
          </p:nvSpPr>
          <p:spPr>
            <a:xfrm>
              <a:off x="3185233" y="1625415"/>
              <a:ext cx="241246" cy="1205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5400" dirty="0"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</p:grpSp>
      <p:sp>
        <p:nvSpPr>
          <p:cNvPr id="34" name="Freeform 42">
            <a:extLst>
              <a:ext uri="{FF2B5EF4-FFF2-40B4-BE49-F238E27FC236}">
                <a16:creationId xmlns:a16="http://schemas.microsoft.com/office/drawing/2014/main" id="{55C53807-E496-4BDD-B09E-81691015465D}"/>
              </a:ext>
            </a:extLst>
          </p:cNvPr>
          <p:cNvSpPr>
            <a:spLocks noEditPoints="1"/>
          </p:cNvSpPr>
          <p:nvPr/>
        </p:nvSpPr>
        <p:spPr bwMode="auto">
          <a:xfrm>
            <a:off x="1624684" y="3805095"/>
            <a:ext cx="1145935" cy="1123083"/>
          </a:xfrm>
          <a:custGeom>
            <a:avLst/>
            <a:gdLst>
              <a:gd name="T0" fmla="*/ 25 w 596"/>
              <a:gd name="T1" fmla="*/ 345 h 583"/>
              <a:gd name="T2" fmla="*/ 25 w 596"/>
              <a:gd name="T3" fmla="*/ 62 h 583"/>
              <a:gd name="T4" fmla="*/ 61 w 596"/>
              <a:gd name="T5" fmla="*/ 26 h 583"/>
              <a:gd name="T6" fmla="*/ 534 w 596"/>
              <a:gd name="T7" fmla="*/ 26 h 583"/>
              <a:gd name="T8" fmla="*/ 570 w 596"/>
              <a:gd name="T9" fmla="*/ 62 h 583"/>
              <a:gd name="T10" fmla="*/ 570 w 596"/>
              <a:gd name="T11" fmla="*/ 345 h 583"/>
              <a:gd name="T12" fmla="*/ 534 w 596"/>
              <a:gd name="T13" fmla="*/ 381 h 583"/>
              <a:gd name="T14" fmla="*/ 61 w 596"/>
              <a:gd name="T15" fmla="*/ 381 h 583"/>
              <a:gd name="T16" fmla="*/ 25 w 596"/>
              <a:gd name="T17" fmla="*/ 345 h 583"/>
              <a:gd name="T18" fmla="*/ 534 w 596"/>
              <a:gd name="T19" fmla="*/ 406 h 583"/>
              <a:gd name="T20" fmla="*/ 596 w 596"/>
              <a:gd name="T21" fmla="*/ 345 h 583"/>
              <a:gd name="T22" fmla="*/ 596 w 596"/>
              <a:gd name="T23" fmla="*/ 62 h 583"/>
              <a:gd name="T24" fmla="*/ 534 w 596"/>
              <a:gd name="T25" fmla="*/ 0 h 583"/>
              <a:gd name="T26" fmla="*/ 61 w 596"/>
              <a:gd name="T27" fmla="*/ 0 h 583"/>
              <a:gd name="T28" fmla="*/ 0 w 596"/>
              <a:gd name="T29" fmla="*/ 62 h 583"/>
              <a:gd name="T30" fmla="*/ 0 w 596"/>
              <a:gd name="T31" fmla="*/ 345 h 583"/>
              <a:gd name="T32" fmla="*/ 61 w 596"/>
              <a:gd name="T33" fmla="*/ 406 h 583"/>
              <a:gd name="T34" fmla="*/ 245 w 596"/>
              <a:gd name="T35" fmla="*/ 406 h 583"/>
              <a:gd name="T36" fmla="*/ 245 w 596"/>
              <a:gd name="T37" fmla="*/ 462 h 583"/>
              <a:gd name="T38" fmla="*/ 61 w 596"/>
              <a:gd name="T39" fmla="*/ 462 h 583"/>
              <a:gd name="T40" fmla="*/ 0 w 596"/>
              <a:gd name="T41" fmla="*/ 524 h 583"/>
              <a:gd name="T42" fmla="*/ 0 w 596"/>
              <a:gd name="T43" fmla="*/ 570 h 583"/>
              <a:gd name="T44" fmla="*/ 12 w 596"/>
              <a:gd name="T45" fmla="*/ 583 h 583"/>
              <a:gd name="T46" fmla="*/ 583 w 596"/>
              <a:gd name="T47" fmla="*/ 583 h 583"/>
              <a:gd name="T48" fmla="*/ 596 w 596"/>
              <a:gd name="T49" fmla="*/ 570 h 583"/>
              <a:gd name="T50" fmla="*/ 596 w 596"/>
              <a:gd name="T51" fmla="*/ 524 h 583"/>
              <a:gd name="T52" fmla="*/ 534 w 596"/>
              <a:gd name="T53" fmla="*/ 462 h 583"/>
              <a:gd name="T54" fmla="*/ 351 w 596"/>
              <a:gd name="T55" fmla="*/ 462 h 583"/>
              <a:gd name="T56" fmla="*/ 351 w 596"/>
              <a:gd name="T57" fmla="*/ 406 h 583"/>
              <a:gd name="T58" fmla="*/ 534 w 596"/>
              <a:gd name="T59" fmla="*/ 406 h 583"/>
              <a:gd name="T60" fmla="*/ 544 w 596"/>
              <a:gd name="T61" fmla="*/ 345 h 583"/>
              <a:gd name="T62" fmla="*/ 544 w 596"/>
              <a:gd name="T63" fmla="*/ 62 h 583"/>
              <a:gd name="T64" fmla="*/ 534 w 596"/>
              <a:gd name="T65" fmla="*/ 52 h 583"/>
              <a:gd name="T66" fmla="*/ 61 w 596"/>
              <a:gd name="T67" fmla="*/ 52 h 583"/>
              <a:gd name="T68" fmla="*/ 51 w 596"/>
              <a:gd name="T69" fmla="*/ 62 h 583"/>
              <a:gd name="T70" fmla="*/ 51 w 596"/>
              <a:gd name="T71" fmla="*/ 345 h 583"/>
              <a:gd name="T72" fmla="*/ 61 w 596"/>
              <a:gd name="T73" fmla="*/ 355 h 583"/>
              <a:gd name="T74" fmla="*/ 534 w 596"/>
              <a:gd name="T75" fmla="*/ 355 h 583"/>
              <a:gd name="T76" fmla="*/ 544 w 596"/>
              <a:gd name="T77" fmla="*/ 345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96" h="583">
                <a:moveTo>
                  <a:pt x="25" y="345"/>
                </a:moveTo>
                <a:lnTo>
                  <a:pt x="25" y="62"/>
                </a:lnTo>
                <a:cubicBezTo>
                  <a:pt x="25" y="42"/>
                  <a:pt x="41" y="26"/>
                  <a:pt x="61" y="26"/>
                </a:cubicBezTo>
                <a:lnTo>
                  <a:pt x="534" y="26"/>
                </a:lnTo>
                <a:cubicBezTo>
                  <a:pt x="554" y="26"/>
                  <a:pt x="570" y="42"/>
                  <a:pt x="570" y="62"/>
                </a:cubicBezTo>
                <a:lnTo>
                  <a:pt x="570" y="345"/>
                </a:lnTo>
                <a:cubicBezTo>
                  <a:pt x="570" y="365"/>
                  <a:pt x="554" y="381"/>
                  <a:pt x="534" y="381"/>
                </a:cubicBezTo>
                <a:lnTo>
                  <a:pt x="61" y="381"/>
                </a:lnTo>
                <a:cubicBezTo>
                  <a:pt x="41" y="381"/>
                  <a:pt x="25" y="365"/>
                  <a:pt x="25" y="345"/>
                </a:cubicBezTo>
                <a:close/>
                <a:moveTo>
                  <a:pt x="534" y="406"/>
                </a:moveTo>
                <a:cubicBezTo>
                  <a:pt x="568" y="406"/>
                  <a:pt x="596" y="379"/>
                  <a:pt x="596" y="345"/>
                </a:cubicBezTo>
                <a:lnTo>
                  <a:pt x="596" y="62"/>
                </a:lnTo>
                <a:cubicBezTo>
                  <a:pt x="596" y="28"/>
                  <a:pt x="568" y="0"/>
                  <a:pt x="534" y="0"/>
                </a:cubicBezTo>
                <a:lnTo>
                  <a:pt x="61" y="0"/>
                </a:lnTo>
                <a:cubicBezTo>
                  <a:pt x="27" y="0"/>
                  <a:pt x="0" y="28"/>
                  <a:pt x="0" y="62"/>
                </a:cubicBezTo>
                <a:lnTo>
                  <a:pt x="0" y="345"/>
                </a:lnTo>
                <a:cubicBezTo>
                  <a:pt x="0" y="379"/>
                  <a:pt x="27" y="406"/>
                  <a:pt x="61" y="406"/>
                </a:cubicBezTo>
                <a:lnTo>
                  <a:pt x="245" y="406"/>
                </a:lnTo>
                <a:lnTo>
                  <a:pt x="245" y="462"/>
                </a:lnTo>
                <a:lnTo>
                  <a:pt x="61" y="462"/>
                </a:lnTo>
                <a:cubicBezTo>
                  <a:pt x="27" y="462"/>
                  <a:pt x="0" y="490"/>
                  <a:pt x="0" y="524"/>
                </a:cubicBezTo>
                <a:lnTo>
                  <a:pt x="0" y="570"/>
                </a:lnTo>
                <a:cubicBezTo>
                  <a:pt x="0" y="577"/>
                  <a:pt x="5" y="583"/>
                  <a:pt x="12" y="583"/>
                </a:cubicBezTo>
                <a:lnTo>
                  <a:pt x="583" y="583"/>
                </a:lnTo>
                <a:cubicBezTo>
                  <a:pt x="590" y="583"/>
                  <a:pt x="596" y="577"/>
                  <a:pt x="596" y="570"/>
                </a:cubicBezTo>
                <a:lnTo>
                  <a:pt x="596" y="524"/>
                </a:lnTo>
                <a:cubicBezTo>
                  <a:pt x="596" y="490"/>
                  <a:pt x="568" y="462"/>
                  <a:pt x="534" y="462"/>
                </a:cubicBezTo>
                <a:lnTo>
                  <a:pt x="351" y="462"/>
                </a:lnTo>
                <a:lnTo>
                  <a:pt x="351" y="406"/>
                </a:lnTo>
                <a:lnTo>
                  <a:pt x="534" y="406"/>
                </a:lnTo>
                <a:close/>
                <a:moveTo>
                  <a:pt x="544" y="345"/>
                </a:moveTo>
                <a:lnTo>
                  <a:pt x="544" y="62"/>
                </a:lnTo>
                <a:cubicBezTo>
                  <a:pt x="544" y="56"/>
                  <a:pt x="540" y="52"/>
                  <a:pt x="534" y="52"/>
                </a:cubicBezTo>
                <a:lnTo>
                  <a:pt x="61" y="52"/>
                </a:lnTo>
                <a:cubicBezTo>
                  <a:pt x="56" y="52"/>
                  <a:pt x="51" y="56"/>
                  <a:pt x="51" y="62"/>
                </a:cubicBezTo>
                <a:lnTo>
                  <a:pt x="51" y="345"/>
                </a:lnTo>
                <a:cubicBezTo>
                  <a:pt x="51" y="350"/>
                  <a:pt x="56" y="355"/>
                  <a:pt x="61" y="355"/>
                </a:cubicBezTo>
                <a:lnTo>
                  <a:pt x="534" y="355"/>
                </a:lnTo>
                <a:cubicBezTo>
                  <a:pt x="540" y="355"/>
                  <a:pt x="544" y="350"/>
                  <a:pt x="544" y="345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68562" tIns="34281" rIns="68562" bIns="34281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A048530-AF3E-4F5A-B2A0-E94C98E09E0F}"/>
              </a:ext>
            </a:extLst>
          </p:cNvPr>
          <p:cNvSpPr/>
          <p:nvPr/>
        </p:nvSpPr>
        <p:spPr>
          <a:xfrm>
            <a:off x="1942050" y="2927233"/>
            <a:ext cx="274777" cy="274777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401A34B-0E99-4A87-BBBA-B631D57E1DA5}"/>
              </a:ext>
            </a:extLst>
          </p:cNvPr>
          <p:cNvGrpSpPr/>
          <p:nvPr/>
        </p:nvGrpSpPr>
        <p:grpSpPr>
          <a:xfrm>
            <a:off x="3311022" y="5125087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7" name="同心圆 85">
              <a:extLst>
                <a:ext uri="{FF2B5EF4-FFF2-40B4-BE49-F238E27FC236}">
                  <a16:creationId xmlns:a16="http://schemas.microsoft.com/office/drawing/2014/main" id="{3989B28A-0BEF-4312-A1B5-3B340466B038}"/>
                </a:ext>
              </a:extLst>
            </p:cNvPr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E832834-6912-4C5D-8245-0C1186F86565}"/>
                </a:ext>
              </a:extLst>
            </p:cNvPr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椭圆 38">
            <a:extLst>
              <a:ext uri="{FF2B5EF4-FFF2-40B4-BE49-F238E27FC236}">
                <a16:creationId xmlns:a16="http://schemas.microsoft.com/office/drawing/2014/main" id="{4CBBC032-D85A-4FF2-8CA2-C43F3DE1403D}"/>
              </a:ext>
            </a:extLst>
          </p:cNvPr>
          <p:cNvSpPr/>
          <p:nvPr/>
        </p:nvSpPr>
        <p:spPr>
          <a:xfrm>
            <a:off x="3446052" y="4091859"/>
            <a:ext cx="274777" cy="274777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FF182E2E-7E12-47EB-9F06-FFAADAAF21EA}"/>
              </a:ext>
            </a:extLst>
          </p:cNvPr>
          <p:cNvSpPr/>
          <p:nvPr/>
        </p:nvSpPr>
        <p:spPr>
          <a:xfrm>
            <a:off x="1358862" y="5673467"/>
            <a:ext cx="137389" cy="137389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48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4" presetClass="path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21" dur="10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4" presetClass="path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30" dur="10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39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4" presetClass="pat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1.38889E-6 3.41057E-6 L -0.71736 -0.40563 " pathEditMode="relative" rAng="0" ptsTypes="AA">
                                      <p:cBhvr>
                                        <p:cTn id="55" dur="10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600"/>
                            </p:stCondLst>
                            <p:childTnLst>
                              <p:par>
                                <p:cTn id="5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600"/>
                            </p:stCondLst>
                            <p:childTnLst>
                              <p:par>
                                <p:cTn id="6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4" grpId="0" animBg="1"/>
      <p:bldP spid="35" grpId="0" animBg="1"/>
      <p:bldP spid="35" grpId="1" animBg="1"/>
      <p:bldP spid="35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BEB6D60A-76F4-49AC-9E09-B5F148AC45AD}"/>
              </a:ext>
            </a:extLst>
          </p:cNvPr>
          <p:cNvGrpSpPr/>
          <p:nvPr/>
        </p:nvGrpSpPr>
        <p:grpSpPr>
          <a:xfrm>
            <a:off x="812799" y="2115048"/>
            <a:ext cx="2873559" cy="2801857"/>
            <a:chOff x="1278794" y="3334906"/>
            <a:chExt cx="914014" cy="914014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6FD2B6FE-F93F-4261-BA49-55B83BF7B96C}"/>
                </a:ext>
              </a:extLst>
            </p:cNvPr>
            <p:cNvGrpSpPr/>
            <p:nvPr/>
          </p:nvGrpSpPr>
          <p:grpSpPr>
            <a:xfrm>
              <a:off x="1278794" y="3334906"/>
              <a:ext cx="914014" cy="914014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44" name="同心圆 62">
                <a:extLst>
                  <a:ext uri="{FF2B5EF4-FFF2-40B4-BE49-F238E27FC236}">
                    <a16:creationId xmlns:a16="http://schemas.microsoft.com/office/drawing/2014/main" id="{BC672644-E605-4936-BA53-4FFBEC4A1D1B}"/>
                  </a:ext>
                </a:extLst>
              </p:cNvPr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D10831FB-624F-4E92-A2FE-E0FFF4870A9A}"/>
                  </a:ext>
                </a:extLst>
              </p:cNvPr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" name="TextBox 61">
              <a:extLst>
                <a:ext uri="{FF2B5EF4-FFF2-40B4-BE49-F238E27FC236}">
                  <a16:creationId xmlns:a16="http://schemas.microsoft.com/office/drawing/2014/main" id="{4189E5AC-DC1D-4A51-B90F-C007CEC2AF36}"/>
                </a:ext>
              </a:extLst>
            </p:cNvPr>
            <p:cNvSpPr txBox="1"/>
            <p:nvPr/>
          </p:nvSpPr>
          <p:spPr>
            <a:xfrm>
              <a:off x="1443719" y="3591858"/>
              <a:ext cx="59026" cy="127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000" dirty="0">
                <a:latin typeface="Watford DB" pitchFamily="2" charset="0"/>
                <a:ea typeface="造字工房劲黑（非商用）常规体" pitchFamily="50" charset="-122"/>
              </a:endParaRPr>
            </a:p>
          </p:txBody>
        </p:sp>
      </p:grpSp>
      <p:sp>
        <p:nvSpPr>
          <p:cNvPr id="46" name="TextBox 56">
            <a:extLst>
              <a:ext uri="{FF2B5EF4-FFF2-40B4-BE49-F238E27FC236}">
                <a16:creationId xmlns:a16="http://schemas.microsoft.com/office/drawing/2014/main" id="{557540F0-F77A-4DC7-AF7A-1CC6B0D115AA}"/>
              </a:ext>
            </a:extLst>
          </p:cNvPr>
          <p:cNvSpPr txBox="1"/>
          <p:nvPr/>
        </p:nvSpPr>
        <p:spPr>
          <a:xfrm>
            <a:off x="1272386" y="2934771"/>
            <a:ext cx="195438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spc="300" dirty="0">
                <a:solidFill>
                  <a:srgbClr val="C00000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目录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14CC258-6B1E-44E3-B0BF-3ED295D11FDE}"/>
              </a:ext>
            </a:extLst>
          </p:cNvPr>
          <p:cNvGrpSpPr/>
          <p:nvPr/>
        </p:nvGrpSpPr>
        <p:grpSpPr>
          <a:xfrm>
            <a:off x="3445163" y="1117600"/>
            <a:ext cx="886691" cy="830997"/>
            <a:chOff x="2683251" y="1980687"/>
            <a:chExt cx="1301106" cy="1315688"/>
          </a:xfrm>
          <a:effectLst>
            <a:outerShdw blurRad="2540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092F6524-5D74-4DE6-8B75-A20D34E02180}"/>
                </a:ext>
              </a:extLst>
            </p:cNvPr>
            <p:cNvSpPr/>
            <p:nvPr/>
          </p:nvSpPr>
          <p:spPr>
            <a:xfrm>
              <a:off x="2683251" y="1980687"/>
              <a:ext cx="1301106" cy="130110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E0A360F-2E82-4C00-8D02-6990211E7559}"/>
                </a:ext>
              </a:extLst>
            </p:cNvPr>
            <p:cNvSpPr txBox="1"/>
            <p:nvPr/>
          </p:nvSpPr>
          <p:spPr>
            <a:xfrm>
              <a:off x="2847837" y="1980687"/>
              <a:ext cx="1028095" cy="13156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schemeClr val="bg1"/>
                  </a:solidFill>
                  <a:latin typeface="Watford DB" pitchFamily="2" charset="0"/>
                  <a:ea typeface="造字工房劲黑（非商用）常规体" pitchFamily="50" charset="-122"/>
                </a:rPr>
                <a:t>1</a:t>
              </a:r>
              <a:endParaRPr lang="zh-CN" altLang="en-US" sz="4800" dirty="0">
                <a:solidFill>
                  <a:schemeClr val="bg1"/>
                </a:solidFill>
                <a:latin typeface="Watford DB" pitchFamily="2" charset="0"/>
                <a:ea typeface="造字工房劲黑（非商用）常规体" pitchFamily="50" charset="-122"/>
              </a:endParaRPr>
            </a:p>
          </p:txBody>
        </p:sp>
      </p:grp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CA37C17-10A8-49EF-864F-F37F3991E9F5}"/>
              </a:ext>
            </a:extLst>
          </p:cNvPr>
          <p:cNvCxnSpPr>
            <a:cxnSpLocks/>
          </p:cNvCxnSpPr>
          <p:nvPr/>
        </p:nvCxnSpPr>
        <p:spPr>
          <a:xfrm>
            <a:off x="4331854" y="1532215"/>
            <a:ext cx="1370742" cy="10495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128">
            <a:extLst>
              <a:ext uri="{FF2B5EF4-FFF2-40B4-BE49-F238E27FC236}">
                <a16:creationId xmlns:a16="http://schemas.microsoft.com/office/drawing/2014/main" id="{1A8DFF99-05CE-43AB-9A79-2D26C1FF0946}"/>
              </a:ext>
            </a:extLst>
          </p:cNvPr>
          <p:cNvSpPr txBox="1"/>
          <p:nvPr/>
        </p:nvSpPr>
        <p:spPr>
          <a:xfrm>
            <a:off x="5776486" y="1117600"/>
            <a:ext cx="3071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方正韵动中黑简体" panose="02000000000000000000" pitchFamily="2" charset="-122"/>
                <a:ea typeface="方正韵动中黑简体" panose="02000000000000000000" pitchFamily="2" charset="-122"/>
              </a:rPr>
              <a:t>如何安装？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DB291455-DC35-4613-95E3-524884719E4F}"/>
              </a:ext>
            </a:extLst>
          </p:cNvPr>
          <p:cNvGrpSpPr/>
          <p:nvPr/>
        </p:nvGrpSpPr>
        <p:grpSpPr>
          <a:xfrm>
            <a:off x="4020511" y="3017251"/>
            <a:ext cx="886691" cy="830997"/>
            <a:chOff x="2683251" y="1980687"/>
            <a:chExt cx="1301106" cy="1315688"/>
          </a:xfrm>
          <a:effectLst>
            <a:outerShdw blurRad="2540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62C15C04-049C-444E-8AA5-0E0A68D13A56}"/>
                </a:ext>
              </a:extLst>
            </p:cNvPr>
            <p:cNvSpPr/>
            <p:nvPr/>
          </p:nvSpPr>
          <p:spPr>
            <a:xfrm>
              <a:off x="2683251" y="1980687"/>
              <a:ext cx="1301106" cy="130110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TextBox 55">
              <a:extLst>
                <a:ext uri="{FF2B5EF4-FFF2-40B4-BE49-F238E27FC236}">
                  <a16:creationId xmlns:a16="http://schemas.microsoft.com/office/drawing/2014/main" id="{A26CD0CD-0F60-4ACB-975F-C376F131403D}"/>
                </a:ext>
              </a:extLst>
            </p:cNvPr>
            <p:cNvSpPr txBox="1"/>
            <p:nvPr/>
          </p:nvSpPr>
          <p:spPr>
            <a:xfrm>
              <a:off x="2847837" y="1980687"/>
              <a:ext cx="1028095" cy="13156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schemeClr val="bg1"/>
                  </a:solidFill>
                  <a:latin typeface="Watford DB" pitchFamily="2" charset="0"/>
                  <a:ea typeface="造字工房劲黑（非商用）常规体" pitchFamily="50" charset="-122"/>
                </a:rPr>
                <a:t>2</a:t>
              </a:r>
              <a:endParaRPr lang="zh-CN" altLang="en-US" sz="4800" dirty="0">
                <a:solidFill>
                  <a:schemeClr val="bg1"/>
                </a:solidFill>
                <a:latin typeface="Watford DB" pitchFamily="2" charset="0"/>
                <a:ea typeface="造字工房劲黑（非商用）常规体" pitchFamily="50" charset="-122"/>
              </a:endParaRPr>
            </a:p>
          </p:txBody>
        </p:sp>
      </p:grp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CDD1753-58F7-49D1-851E-F36F26972E1B}"/>
              </a:ext>
            </a:extLst>
          </p:cNvPr>
          <p:cNvCxnSpPr>
            <a:cxnSpLocks/>
          </p:cNvCxnSpPr>
          <p:nvPr/>
        </p:nvCxnSpPr>
        <p:spPr>
          <a:xfrm>
            <a:off x="4907202" y="3431866"/>
            <a:ext cx="1370742" cy="10495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2177075C-C449-4266-901E-A7C8F1D69764}"/>
              </a:ext>
            </a:extLst>
          </p:cNvPr>
          <p:cNvGrpSpPr/>
          <p:nvPr/>
        </p:nvGrpSpPr>
        <p:grpSpPr>
          <a:xfrm>
            <a:off x="3445163" y="4916903"/>
            <a:ext cx="886691" cy="830997"/>
            <a:chOff x="2683251" y="1980687"/>
            <a:chExt cx="1301106" cy="1315688"/>
          </a:xfrm>
          <a:effectLst>
            <a:outerShdw blurRad="2540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AEB08C56-2927-4705-B94C-CEA787D83509}"/>
                </a:ext>
              </a:extLst>
            </p:cNvPr>
            <p:cNvSpPr/>
            <p:nvPr/>
          </p:nvSpPr>
          <p:spPr>
            <a:xfrm>
              <a:off x="2683251" y="1980687"/>
              <a:ext cx="1301106" cy="130110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TextBox 55">
              <a:extLst>
                <a:ext uri="{FF2B5EF4-FFF2-40B4-BE49-F238E27FC236}">
                  <a16:creationId xmlns:a16="http://schemas.microsoft.com/office/drawing/2014/main" id="{C7A5D9DE-5277-4EC1-9515-2FE50197087F}"/>
                </a:ext>
              </a:extLst>
            </p:cNvPr>
            <p:cNvSpPr txBox="1"/>
            <p:nvPr/>
          </p:nvSpPr>
          <p:spPr>
            <a:xfrm>
              <a:off x="2847837" y="1980687"/>
              <a:ext cx="1028095" cy="13156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schemeClr val="bg1"/>
                  </a:solidFill>
                  <a:latin typeface="Watford DB" pitchFamily="2" charset="0"/>
                  <a:ea typeface="造字工房劲黑（非商用）常规体" pitchFamily="50" charset="-122"/>
                </a:rPr>
                <a:t>3</a:t>
              </a:r>
              <a:endParaRPr lang="zh-CN" altLang="en-US" sz="4800" dirty="0">
                <a:solidFill>
                  <a:schemeClr val="bg1"/>
                </a:solidFill>
                <a:latin typeface="Watford DB" pitchFamily="2" charset="0"/>
                <a:ea typeface="造字工房劲黑（非商用）常规体" pitchFamily="50" charset="-122"/>
              </a:endParaRPr>
            </a:p>
          </p:txBody>
        </p:sp>
      </p:grp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7517B5C-EDE8-452E-9DCB-BB5CEB780667}"/>
              </a:ext>
            </a:extLst>
          </p:cNvPr>
          <p:cNvCxnSpPr>
            <a:cxnSpLocks/>
          </p:cNvCxnSpPr>
          <p:nvPr/>
        </p:nvCxnSpPr>
        <p:spPr>
          <a:xfrm>
            <a:off x="4331854" y="5331518"/>
            <a:ext cx="1370742" cy="10495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128">
            <a:extLst>
              <a:ext uri="{FF2B5EF4-FFF2-40B4-BE49-F238E27FC236}">
                <a16:creationId xmlns:a16="http://schemas.microsoft.com/office/drawing/2014/main" id="{D936EB0A-FA44-486C-ADA4-76F560FDCD66}"/>
              </a:ext>
            </a:extLst>
          </p:cNvPr>
          <p:cNvSpPr txBox="1"/>
          <p:nvPr/>
        </p:nvSpPr>
        <p:spPr>
          <a:xfrm>
            <a:off x="6325844" y="3046755"/>
            <a:ext cx="3071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方正韵动中黑简体" panose="02000000000000000000" pitchFamily="2" charset="-122"/>
                <a:ea typeface="方正韵动中黑简体" panose="02000000000000000000" pitchFamily="2" charset="-122"/>
              </a:rPr>
              <a:t>适用场合？</a:t>
            </a:r>
          </a:p>
        </p:txBody>
      </p:sp>
      <p:sp>
        <p:nvSpPr>
          <p:cNvPr id="73" name="文本框 128">
            <a:extLst>
              <a:ext uri="{FF2B5EF4-FFF2-40B4-BE49-F238E27FC236}">
                <a16:creationId xmlns:a16="http://schemas.microsoft.com/office/drawing/2014/main" id="{3848C1E0-BFE8-4828-B4EB-FD74290E7296}"/>
              </a:ext>
            </a:extLst>
          </p:cNvPr>
          <p:cNvSpPr txBox="1"/>
          <p:nvPr/>
        </p:nvSpPr>
        <p:spPr>
          <a:xfrm>
            <a:off x="5776486" y="4987863"/>
            <a:ext cx="3071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方正韵动中黑简体" panose="02000000000000000000" pitchFamily="2" charset="-122"/>
                <a:ea typeface="方正韵动中黑简体" panose="02000000000000000000" pitchFamily="2" charset="-122"/>
              </a:rPr>
              <a:t>如何使用？</a:t>
            </a: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2197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主目录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3557327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36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afterEffect" p14:presetBounceEnd="4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19271 0.30926 L -2.77778E-7 -4.32099E-6 " pathEditMode="relative" rAng="0" ptsTypes="AA">
                                          <p:cBhvr>
                                            <p:cTn id="17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635" y="-1546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19271 0.30926 L -2.77778E-7 -4.32099E-6 " pathEditMode="relative" rAng="0" ptsTypes="AA">
                                          <p:cBhvr>
                                            <p:cTn id="25" dur="2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635" y="-1546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27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19271 0.30926 L -2.77778E-7 -4.32099E-6 " pathEditMode="relative" rAng="0" ptsTypes="AA">
                                          <p:cBhvr>
                                            <p:cTn id="33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635" y="-1546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3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7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3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1" dur="3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7300"/>
                                </p:stCondLst>
                                <p:childTnLst>
                                  <p:par>
                                    <p:cTn id="4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6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0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/>
          <p:bldP spid="77" grpId="0" animBg="1"/>
          <p:bldP spid="7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3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19271 0.30926 L -2.77778E-7 -4.32099E-6 " pathEditMode="relative" rAng="0" ptsTypes="AA">
                                          <p:cBhvr>
                                            <p:cTn id="17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635" y="-1546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1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19271 0.30926 L -2.77778E-7 -4.32099E-6 " pathEditMode="relative" rAng="0" ptsTypes="AA">
                                          <p:cBhvr>
                                            <p:cTn id="25" dur="2000" fill="hold"/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635" y="-1546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6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27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19271 0.30926 L -2.77778E-7 -4.32099E-6 " pathEditMode="relative" rAng="0" ptsTypes="AA">
                                          <p:cBhvr>
                                            <p:cTn id="33" dur="2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635" y="-1546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35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7" dur="5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7000"/>
                                </p:stCondLst>
                                <p:childTnLst>
                                  <p:par>
                                    <p:cTn id="3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1" dur="300"/>
                                            <p:tgtEl>
                                              <p:spTgt spid="7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2" fill="hold">
                                <p:stCondLst>
                                  <p:cond delay="7300"/>
                                </p:stCondLst>
                                <p:childTnLst>
                                  <p:par>
                                    <p:cTn id="43" presetID="1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5" dur="500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46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50" dur="500"/>
                                            <p:tgtEl>
                                              <p:spTgt spid="7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6" grpId="0"/>
          <p:bldP spid="77" grpId="0" animBg="1"/>
          <p:bldP spid="78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DFC6261A-2922-41AD-9A03-9669DFF42F5B}"/>
              </a:ext>
            </a:extLst>
          </p:cNvPr>
          <p:cNvGrpSpPr/>
          <p:nvPr/>
        </p:nvGrpSpPr>
        <p:grpSpPr>
          <a:xfrm>
            <a:off x="4407634" y="488785"/>
            <a:ext cx="1760370" cy="1619656"/>
            <a:chOff x="2683251" y="1980687"/>
            <a:chExt cx="1301106" cy="1301106"/>
          </a:xfrm>
          <a:effectLst>
            <a:outerShdw blurRad="2540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88E387F9-5A44-41D6-8C01-EDA307E44D57}"/>
                </a:ext>
              </a:extLst>
            </p:cNvPr>
            <p:cNvSpPr/>
            <p:nvPr/>
          </p:nvSpPr>
          <p:spPr>
            <a:xfrm>
              <a:off x="2683251" y="1980687"/>
              <a:ext cx="1301106" cy="130110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107">
              <a:extLst>
                <a:ext uri="{FF2B5EF4-FFF2-40B4-BE49-F238E27FC236}">
                  <a16:creationId xmlns:a16="http://schemas.microsoft.com/office/drawing/2014/main" id="{9BC82859-0D12-4D41-82CA-32907FB6F94D}"/>
                </a:ext>
              </a:extLst>
            </p:cNvPr>
            <p:cNvSpPr txBox="1"/>
            <p:nvPr/>
          </p:nvSpPr>
          <p:spPr>
            <a:xfrm>
              <a:off x="3002623" y="2185262"/>
              <a:ext cx="622254" cy="89007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bg1"/>
                  </a:solidFill>
                  <a:latin typeface="Watford DB" pitchFamily="2" charset="0"/>
                  <a:ea typeface="造字工房劲黑（非商用）常规体" pitchFamily="50" charset="-122"/>
                </a:rPr>
                <a:t>1</a:t>
              </a:r>
              <a:endParaRPr lang="zh-CN" altLang="en-US" sz="6600" dirty="0">
                <a:solidFill>
                  <a:schemeClr val="bg1"/>
                </a:solidFill>
                <a:latin typeface="Watford DB" pitchFamily="2" charset="0"/>
                <a:ea typeface="造字工房劲黑（非商用）常规体" pitchFamily="50" charset="-122"/>
              </a:endParaRP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C33B13F-6483-47AC-9196-C53538693454}"/>
              </a:ext>
            </a:extLst>
          </p:cNvPr>
          <p:cNvCxnSpPr>
            <a:cxnSpLocks/>
          </p:cNvCxnSpPr>
          <p:nvPr/>
        </p:nvCxnSpPr>
        <p:spPr>
          <a:xfrm flipH="1">
            <a:off x="2253674" y="2515573"/>
            <a:ext cx="6068290" cy="346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9">
            <a:extLst>
              <a:ext uri="{FF2B5EF4-FFF2-40B4-BE49-F238E27FC236}">
                <a16:creationId xmlns:a16="http://schemas.microsoft.com/office/drawing/2014/main" id="{05747288-4E1C-4AF8-8643-349F78376E77}"/>
              </a:ext>
            </a:extLst>
          </p:cNvPr>
          <p:cNvSpPr txBox="1"/>
          <p:nvPr/>
        </p:nvSpPr>
        <p:spPr>
          <a:xfrm>
            <a:off x="2616182" y="4314090"/>
            <a:ext cx="44727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Font typeface="Wingdings" pitchFamily="2" charset="2"/>
              <a:buChar char="l"/>
            </a:pP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  串口助手的安装</a:t>
            </a:r>
          </a:p>
        </p:txBody>
      </p:sp>
      <p:sp>
        <p:nvSpPr>
          <p:cNvPr id="34" name="文本框 9">
            <a:extLst>
              <a:ext uri="{FF2B5EF4-FFF2-40B4-BE49-F238E27FC236}">
                <a16:creationId xmlns:a16="http://schemas.microsoft.com/office/drawing/2014/main" id="{DF474439-9945-436E-8CEC-F6852CB2253E}"/>
              </a:ext>
            </a:extLst>
          </p:cNvPr>
          <p:cNvSpPr txBox="1"/>
          <p:nvPr/>
        </p:nvSpPr>
        <p:spPr>
          <a:xfrm>
            <a:off x="2616182" y="3108788"/>
            <a:ext cx="665712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Font typeface="Wingdings" pitchFamily="2" charset="2"/>
              <a:buChar char="l"/>
            </a:pP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  虚拟串口的安装和破解</a:t>
            </a:r>
          </a:p>
        </p:txBody>
      </p:sp>
    </p:spTree>
    <p:extLst>
      <p:ext uri="{BB962C8B-B14F-4D97-AF65-F5344CB8AC3E}">
        <p14:creationId xmlns:p14="http://schemas.microsoft.com/office/powerpoint/2010/main" val="398793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090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虚拟串口安装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82935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47938" y="1109341"/>
            <a:ext cx="594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1.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解压，并且运行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vspd.exe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程序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2D4B8E-D3C6-4991-AEAB-ACB58035E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1700315"/>
            <a:ext cx="4778324" cy="2720262"/>
          </a:xfrm>
          <a:prstGeom prst="rect">
            <a:avLst/>
          </a:prstGeom>
        </p:spPr>
      </p:pic>
      <p:sp>
        <p:nvSpPr>
          <p:cNvPr id="31" name="TextBox 93">
            <a:extLst>
              <a:ext uri="{FF2B5EF4-FFF2-40B4-BE49-F238E27FC236}">
                <a16:creationId xmlns:a16="http://schemas.microsoft.com/office/drawing/2014/main" id="{56FDC03A-8AFE-4332-A697-E4B86D667549}"/>
              </a:ext>
            </a:extLst>
          </p:cNvPr>
          <p:cNvSpPr txBox="1"/>
          <p:nvPr/>
        </p:nvSpPr>
        <p:spPr>
          <a:xfrm>
            <a:off x="947937" y="4420577"/>
            <a:ext cx="594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2.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选择语言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016F0E-AE79-4458-8167-8ECAD9903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84" y="4991316"/>
            <a:ext cx="4883433" cy="175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3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3970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虚拟串口安装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64457" y="232956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47938" y="1109341"/>
            <a:ext cx="594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3.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接收协议，选择下一步</a:t>
            </a:r>
          </a:p>
        </p:txBody>
      </p:sp>
      <p:sp>
        <p:nvSpPr>
          <p:cNvPr id="31" name="TextBox 93">
            <a:extLst>
              <a:ext uri="{FF2B5EF4-FFF2-40B4-BE49-F238E27FC236}">
                <a16:creationId xmlns:a16="http://schemas.microsoft.com/office/drawing/2014/main" id="{56FDC03A-8AFE-4332-A697-E4B86D667549}"/>
              </a:ext>
            </a:extLst>
          </p:cNvPr>
          <p:cNvSpPr txBox="1"/>
          <p:nvPr/>
        </p:nvSpPr>
        <p:spPr>
          <a:xfrm>
            <a:off x="947937" y="3982980"/>
            <a:ext cx="594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4.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自选安装目录，然后点击下一步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579F64-7B2B-4F2F-B853-B8AC6106C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1501922"/>
            <a:ext cx="4379112" cy="23773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5B23DF9-86A6-4C3E-879B-39ABC4E8E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4444645"/>
            <a:ext cx="4306125" cy="232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9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533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虚拟串口安装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09040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47938" y="1109341"/>
            <a:ext cx="8436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5.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点击下一步，下一步，然后点击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Install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即可，等待若干时间，点击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Finish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13F273-3889-4578-967E-47FA8C2CD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2075183"/>
            <a:ext cx="4592452" cy="2201253"/>
          </a:xfrm>
          <a:prstGeom prst="rect">
            <a:avLst/>
          </a:prstGeom>
        </p:spPr>
      </p:pic>
      <p:sp>
        <p:nvSpPr>
          <p:cNvPr id="12" name="TextBox 93">
            <a:extLst>
              <a:ext uri="{FF2B5EF4-FFF2-40B4-BE49-F238E27FC236}">
                <a16:creationId xmlns:a16="http://schemas.microsoft.com/office/drawing/2014/main" id="{C194F43A-7144-42F4-A3BF-6CF87A4C4FA7}"/>
              </a:ext>
            </a:extLst>
          </p:cNvPr>
          <p:cNvSpPr txBox="1"/>
          <p:nvPr/>
        </p:nvSpPr>
        <p:spPr>
          <a:xfrm>
            <a:off x="947937" y="4282032"/>
            <a:ext cx="843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6.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点击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ok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，跳出以下界面即完成安装。等待破解。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F5A6D7-EE2A-4B9F-B211-739E58AA1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77" y="4803171"/>
            <a:ext cx="4628068" cy="198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2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51249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虚拟串口破解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82930" y="214484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47938" y="1109341"/>
            <a:ext cx="594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1.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关闭安装后显示的界面</a:t>
            </a:r>
          </a:p>
        </p:txBody>
      </p:sp>
      <p:sp>
        <p:nvSpPr>
          <p:cNvPr id="31" name="TextBox 93">
            <a:extLst>
              <a:ext uri="{FF2B5EF4-FFF2-40B4-BE49-F238E27FC236}">
                <a16:creationId xmlns:a16="http://schemas.microsoft.com/office/drawing/2014/main" id="{56FDC03A-8AFE-4332-A697-E4B86D667549}"/>
              </a:ext>
            </a:extLst>
          </p:cNvPr>
          <p:cNvSpPr txBox="1"/>
          <p:nvPr/>
        </p:nvSpPr>
        <p:spPr>
          <a:xfrm>
            <a:off x="947937" y="3465624"/>
            <a:ext cx="9941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2.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找到解压文件中的文件夹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Cracked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下的两个文件，复制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8AAC33-B20C-4E5E-A1A6-DAC3AFAA5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4067010"/>
            <a:ext cx="4657107" cy="260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1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5060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虚拟串口破解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18275" y="223720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93">
            <a:extLst>
              <a:ext uri="{FF2B5EF4-FFF2-40B4-BE49-F238E27FC236}">
                <a16:creationId xmlns:a16="http://schemas.microsoft.com/office/drawing/2014/main" id="{20E2C2B1-CC17-44CA-A0FF-3283DDC87470}"/>
              </a:ext>
            </a:extLst>
          </p:cNvPr>
          <p:cNvSpPr txBox="1"/>
          <p:nvPr/>
        </p:nvSpPr>
        <p:spPr>
          <a:xfrm>
            <a:off x="921657" y="1027139"/>
            <a:ext cx="9941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3.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进入桌面，找到此软件的快捷方式，鼠标右击，点击属</a:t>
            </a:r>
            <a:endParaRPr lang="en-US" altLang="zh-CN" sz="2400" spc="300" dirty="0">
              <a:latin typeface="方正兰亭细黑_GBK" pitchFamily="2" charset="-122"/>
              <a:ea typeface="方正兰亭细黑_GBK" pitchFamily="2" charset="-122"/>
            </a:endParaRPr>
          </a:p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性选项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97DF69-64FF-4537-80AB-03EAAFD7B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58" y="1984069"/>
            <a:ext cx="1221178" cy="18646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E430CD9-8BA0-49FA-B816-FCDDD9AC7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947" y="1630922"/>
            <a:ext cx="1451980" cy="2217644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489E07A8-3A8C-40C2-8863-4C4B6E00C17B}"/>
              </a:ext>
            </a:extLst>
          </p:cNvPr>
          <p:cNvSpPr/>
          <p:nvPr/>
        </p:nvSpPr>
        <p:spPr>
          <a:xfrm>
            <a:off x="2630789" y="2695731"/>
            <a:ext cx="1098724" cy="39180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93">
            <a:extLst>
              <a:ext uri="{FF2B5EF4-FFF2-40B4-BE49-F238E27FC236}">
                <a16:creationId xmlns:a16="http://schemas.microsoft.com/office/drawing/2014/main" id="{BA7CE03B-190E-4A20-BF39-FFD85F91FBA8}"/>
              </a:ext>
            </a:extLst>
          </p:cNvPr>
          <p:cNvSpPr txBox="1"/>
          <p:nvPr/>
        </p:nvSpPr>
        <p:spPr>
          <a:xfrm>
            <a:off x="857001" y="3848565"/>
            <a:ext cx="99417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4.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进入所在文件夹，在空白处进行粘贴，覆盖原始两个文</a:t>
            </a:r>
            <a:endParaRPr lang="en-US" altLang="zh-CN" sz="2400" spc="300" dirty="0">
              <a:latin typeface="方正兰亭细黑_GBK" pitchFamily="2" charset="-122"/>
              <a:ea typeface="方正兰亭细黑_GBK" pitchFamily="2" charset="-122"/>
            </a:endParaRPr>
          </a:p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件即可，再次运行，就完成了汉化破解。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4C1F4F-0336-484A-A331-E1240EACF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55" y="4619745"/>
            <a:ext cx="3479273" cy="221764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21AF26-C21E-4A33-809F-4211C8A6B1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204" y="4619745"/>
            <a:ext cx="3316068" cy="2194132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920B374F-5EA2-48DD-B282-17417002BE9D}"/>
              </a:ext>
            </a:extLst>
          </p:cNvPr>
          <p:cNvSpPr/>
          <p:nvPr/>
        </p:nvSpPr>
        <p:spPr>
          <a:xfrm>
            <a:off x="4432135" y="5532663"/>
            <a:ext cx="1098724" cy="39180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42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1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5060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>
                <a:latin typeface="方正兰亭细黑_GBK" pitchFamily="2" charset="-122"/>
                <a:ea typeface="方正兰亭细黑_GBK" pitchFamily="2" charset="-122"/>
              </a:rPr>
              <a:t>串口助手安装</a:t>
            </a:r>
            <a:endParaRPr lang="zh-CN" altLang="en-US" sz="4000" spc="300" dirty="0">
              <a:latin typeface="方正兰亭细黑_GBK" pitchFamily="2" charset="-122"/>
              <a:ea typeface="方正兰亭细黑_GBK" pitchFamily="2" charset="-122"/>
            </a:endParaRP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18275" y="223720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93">
            <a:extLst>
              <a:ext uri="{FF2B5EF4-FFF2-40B4-BE49-F238E27FC236}">
                <a16:creationId xmlns:a16="http://schemas.microsoft.com/office/drawing/2014/main" id="{20E2C2B1-CC17-44CA-A0FF-3283DDC87470}"/>
              </a:ext>
            </a:extLst>
          </p:cNvPr>
          <p:cNvSpPr txBox="1"/>
          <p:nvPr/>
        </p:nvSpPr>
        <p:spPr>
          <a:xfrm>
            <a:off x="829294" y="1027138"/>
            <a:ext cx="9941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+mj-ea"/>
                <a:ea typeface="+mj-ea"/>
              </a:rPr>
              <a:t>1.</a:t>
            </a:r>
            <a:r>
              <a:rPr lang="zh-CN" altLang="en-US" sz="2400" dirty="0">
                <a:latin typeface="+mj-ea"/>
                <a:ea typeface="+mj-ea"/>
              </a:rPr>
              <a:t>在华军软件园将串口调试助手下载下来，得到一个软件</a:t>
            </a:r>
            <a:r>
              <a:rPr lang="zh-CN" altLang="en-US" sz="2400" u="sng" dirty="0">
                <a:latin typeface="+mj-ea"/>
                <a:ea typeface="+mj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压缩</a:t>
            </a:r>
            <a:r>
              <a:rPr lang="zh-CN" altLang="en-US" sz="2400" dirty="0">
                <a:latin typeface="+mj-ea"/>
                <a:ea typeface="+mj-ea"/>
              </a:rPr>
              <a:t>包。</a:t>
            </a:r>
            <a:endParaRPr lang="zh-CN" altLang="en-US" sz="2400" spc="300" dirty="0">
              <a:latin typeface="+mj-ea"/>
              <a:ea typeface="+mj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459FD9-56D5-4677-B82E-9678FDEF4A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650" y="1614737"/>
            <a:ext cx="857250" cy="759008"/>
          </a:xfrm>
          <a:prstGeom prst="rect">
            <a:avLst/>
          </a:prstGeom>
        </p:spPr>
      </p:pic>
      <p:sp>
        <p:nvSpPr>
          <p:cNvPr id="16" name="TextBox 93">
            <a:extLst>
              <a:ext uri="{FF2B5EF4-FFF2-40B4-BE49-F238E27FC236}">
                <a16:creationId xmlns:a16="http://schemas.microsoft.com/office/drawing/2014/main" id="{D8670B35-4657-4B72-BB7E-1324BCD624DE}"/>
              </a:ext>
            </a:extLst>
          </p:cNvPr>
          <p:cNvSpPr txBox="1"/>
          <p:nvPr/>
        </p:nvSpPr>
        <p:spPr>
          <a:xfrm>
            <a:off x="829293" y="2769371"/>
            <a:ext cx="9941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2.</a:t>
            </a:r>
            <a:r>
              <a:rPr lang="zh-CN" altLang="en-US" sz="2400" dirty="0">
                <a:latin typeface="+mj-ea"/>
                <a:ea typeface="+mj-ea"/>
              </a:rPr>
              <a:t>接着将软件压缩包</a:t>
            </a:r>
            <a:r>
              <a:rPr lang="zh-CN" altLang="en-US" sz="2400" u="sng" dirty="0">
                <a:latin typeface="+mj-ea"/>
                <a:ea typeface="+mj-ea"/>
                <a:hlinkClick r:id="rId4"/>
              </a:rPr>
              <a:t>解压</a:t>
            </a:r>
            <a:r>
              <a:rPr lang="zh-CN" altLang="en-US" sz="2400" dirty="0">
                <a:latin typeface="+mj-ea"/>
                <a:ea typeface="+mj-ea"/>
              </a:rPr>
              <a:t>，得到其中的</a:t>
            </a:r>
            <a:r>
              <a:rPr lang="en-US" altLang="zh-CN" sz="2400" dirty="0">
                <a:latin typeface="+mj-ea"/>
                <a:ea typeface="+mj-ea"/>
              </a:rPr>
              <a:t>sscom5.13.1.exe</a:t>
            </a:r>
            <a:r>
              <a:rPr lang="zh-CN" altLang="en-US" sz="2400" dirty="0">
                <a:solidFill>
                  <a:srgbClr val="6465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400" spc="300" dirty="0">
              <a:latin typeface="方正兰亭细黑_GBK" pitchFamily="2" charset="-122"/>
              <a:ea typeface="方正兰亭细黑_GBK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134657A-F190-4A0F-8A37-EDB7F60254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650" y="3356970"/>
            <a:ext cx="990600" cy="1095375"/>
          </a:xfrm>
          <a:prstGeom prst="rect">
            <a:avLst/>
          </a:prstGeom>
        </p:spPr>
      </p:pic>
      <p:sp>
        <p:nvSpPr>
          <p:cNvPr id="19" name="TextBox 93">
            <a:extLst>
              <a:ext uri="{FF2B5EF4-FFF2-40B4-BE49-F238E27FC236}">
                <a16:creationId xmlns:a16="http://schemas.microsoft.com/office/drawing/2014/main" id="{8F81E16C-9614-46E1-920F-7222E0DE4015}"/>
              </a:ext>
            </a:extLst>
          </p:cNvPr>
          <p:cNvSpPr txBox="1"/>
          <p:nvPr/>
        </p:nvSpPr>
        <p:spPr>
          <a:xfrm>
            <a:off x="829292" y="4578279"/>
            <a:ext cx="9941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+mj-ea"/>
                <a:ea typeface="+mj-ea"/>
              </a:rPr>
              <a:t>3.</a:t>
            </a:r>
            <a:r>
              <a:rPr lang="zh-CN" altLang="en-US" sz="2400" dirty="0">
                <a:latin typeface="+mj-ea"/>
                <a:ea typeface="+mj-ea"/>
              </a:rPr>
              <a:t>最后双击打开</a:t>
            </a:r>
            <a:r>
              <a:rPr lang="en-US" altLang="zh-CN" sz="2400" dirty="0">
                <a:latin typeface="+mj-ea"/>
                <a:ea typeface="+mj-ea"/>
              </a:rPr>
              <a:t>sscom5.13.1.exe</a:t>
            </a:r>
            <a:r>
              <a:rPr lang="zh-CN" altLang="en-US" sz="2400" dirty="0">
                <a:latin typeface="+mj-ea"/>
                <a:ea typeface="+mj-ea"/>
              </a:rPr>
              <a:t>，就可以使用了。</a:t>
            </a:r>
            <a:endParaRPr lang="zh-CN" altLang="en-US" sz="2400" spc="300" dirty="0">
              <a:latin typeface="+mj-ea"/>
              <a:ea typeface="+mj-ea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2121551-5B76-49CC-AC42-B33647E1D2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678" y="5102184"/>
            <a:ext cx="2228728" cy="168843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1192021-8BF2-4475-93D9-182FF3AF9F2E}"/>
              </a:ext>
            </a:extLst>
          </p:cNvPr>
          <p:cNvSpPr txBox="1"/>
          <p:nvPr/>
        </p:nvSpPr>
        <p:spPr>
          <a:xfrm>
            <a:off x="2706718" y="2442915"/>
            <a:ext cx="5680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网址：</a:t>
            </a:r>
            <a:r>
              <a:rPr lang="en-US" altLang="zh-CN" dirty="0"/>
              <a:t>https://www.onlinedown.net/soft/90726.htm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97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12" grpId="0"/>
      <p:bldP spid="16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DFC6261A-2922-41AD-9A03-9669DFF42F5B}"/>
              </a:ext>
            </a:extLst>
          </p:cNvPr>
          <p:cNvGrpSpPr/>
          <p:nvPr/>
        </p:nvGrpSpPr>
        <p:grpSpPr>
          <a:xfrm>
            <a:off x="4407634" y="488785"/>
            <a:ext cx="1760370" cy="1619656"/>
            <a:chOff x="2683251" y="1980687"/>
            <a:chExt cx="1301106" cy="1301106"/>
          </a:xfrm>
          <a:effectLst>
            <a:outerShdw blurRad="2540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88E387F9-5A44-41D6-8C01-EDA307E44D57}"/>
                </a:ext>
              </a:extLst>
            </p:cNvPr>
            <p:cNvSpPr/>
            <p:nvPr/>
          </p:nvSpPr>
          <p:spPr>
            <a:xfrm>
              <a:off x="2683251" y="1980687"/>
              <a:ext cx="1301106" cy="130110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107">
              <a:extLst>
                <a:ext uri="{FF2B5EF4-FFF2-40B4-BE49-F238E27FC236}">
                  <a16:creationId xmlns:a16="http://schemas.microsoft.com/office/drawing/2014/main" id="{9BC82859-0D12-4D41-82CA-32907FB6F94D}"/>
                </a:ext>
              </a:extLst>
            </p:cNvPr>
            <p:cNvSpPr txBox="1"/>
            <p:nvPr/>
          </p:nvSpPr>
          <p:spPr>
            <a:xfrm>
              <a:off x="3002623" y="2185262"/>
              <a:ext cx="622254" cy="89007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bg1"/>
                  </a:solidFill>
                  <a:latin typeface="Watford DB" pitchFamily="2" charset="0"/>
                  <a:ea typeface="造字工房劲黑（非商用）常规体" pitchFamily="50" charset="-122"/>
                </a:rPr>
                <a:t>2</a:t>
              </a:r>
              <a:endParaRPr lang="zh-CN" altLang="en-US" sz="6600" dirty="0">
                <a:solidFill>
                  <a:schemeClr val="bg1"/>
                </a:solidFill>
                <a:latin typeface="Watford DB" pitchFamily="2" charset="0"/>
                <a:ea typeface="造字工房劲黑（非商用）常规体" pitchFamily="50" charset="-122"/>
              </a:endParaRP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C33B13F-6483-47AC-9196-C53538693454}"/>
              </a:ext>
            </a:extLst>
          </p:cNvPr>
          <p:cNvCxnSpPr>
            <a:cxnSpLocks/>
          </p:cNvCxnSpPr>
          <p:nvPr/>
        </p:nvCxnSpPr>
        <p:spPr>
          <a:xfrm flipH="1">
            <a:off x="2253674" y="2515573"/>
            <a:ext cx="6068290" cy="346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9">
            <a:extLst>
              <a:ext uri="{FF2B5EF4-FFF2-40B4-BE49-F238E27FC236}">
                <a16:creationId xmlns:a16="http://schemas.microsoft.com/office/drawing/2014/main" id="{05747288-4E1C-4AF8-8643-349F78376E77}"/>
              </a:ext>
            </a:extLst>
          </p:cNvPr>
          <p:cNvSpPr txBox="1"/>
          <p:nvPr/>
        </p:nvSpPr>
        <p:spPr>
          <a:xfrm>
            <a:off x="4001634" y="4453464"/>
            <a:ext cx="44727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Font typeface="Wingdings" pitchFamily="2" charset="2"/>
              <a:buChar char="l"/>
            </a:pP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  适 用 场 景</a:t>
            </a:r>
          </a:p>
        </p:txBody>
      </p:sp>
      <p:sp>
        <p:nvSpPr>
          <p:cNvPr id="34" name="文本框 9">
            <a:extLst>
              <a:ext uri="{FF2B5EF4-FFF2-40B4-BE49-F238E27FC236}">
                <a16:creationId xmlns:a16="http://schemas.microsoft.com/office/drawing/2014/main" id="{DF474439-9945-436E-8CEC-F6852CB2253E}"/>
              </a:ext>
            </a:extLst>
          </p:cNvPr>
          <p:cNvSpPr txBox="1"/>
          <p:nvPr/>
        </p:nvSpPr>
        <p:spPr>
          <a:xfrm>
            <a:off x="4001635" y="3290386"/>
            <a:ext cx="44727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Font typeface="Wingdings" pitchFamily="2" charset="2"/>
              <a:buChar char="l"/>
            </a:pP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  背 景</a:t>
            </a:r>
          </a:p>
        </p:txBody>
      </p:sp>
    </p:spTree>
    <p:extLst>
      <p:ext uri="{BB962C8B-B14F-4D97-AF65-F5344CB8AC3E}">
        <p14:creationId xmlns:p14="http://schemas.microsoft.com/office/powerpoint/2010/main" val="272283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2197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背景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3021620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3">
            <a:extLst>
              <a:ext uri="{FF2B5EF4-FFF2-40B4-BE49-F238E27FC236}">
                <a16:creationId xmlns:a16="http://schemas.microsoft.com/office/drawing/2014/main" id="{B8197BD9-5548-4803-9FD3-0426FC1BDC90}"/>
              </a:ext>
            </a:extLst>
          </p:cNvPr>
          <p:cNvSpPr txBox="1"/>
          <p:nvPr/>
        </p:nvSpPr>
        <p:spPr>
          <a:xfrm>
            <a:off x="1032493" y="1728177"/>
            <a:ext cx="840849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虚拟串口一般用来调试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PC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上位机软件和串口的通讯，假设我们需要开发一个串口助手的小工具，如果使用单片机的串口来实际调试，那么我们至少还需要一个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USB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转串口，这样才能让单片机和电脑串口通讯，接着我们还需要在单片机上运行程序和串口相关的程序，以便我们知道数据传输的状态，这无疑加大的开发的难度。而虚拟串口则不需要考虑这些问题，它可以在</a:t>
            </a:r>
            <a:r>
              <a:rPr lang="en-US" altLang="zh-CN" sz="2400" spc="300" dirty="0" err="1">
                <a:latin typeface="方正兰亭细黑_GBK" pitchFamily="2" charset="-122"/>
                <a:ea typeface="方正兰亭细黑_GBK" pitchFamily="2" charset="-122"/>
              </a:rPr>
              <a:t>mcu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中直接虚拟一个串口，这样我们就可以使用串口助手直接查看该串口数据的收发情况，对于调试串口助手上位机非常有帮助。</a:t>
            </a:r>
          </a:p>
        </p:txBody>
      </p:sp>
    </p:spTree>
    <p:extLst>
      <p:ext uri="{BB962C8B-B14F-4D97-AF65-F5344CB8AC3E}">
        <p14:creationId xmlns:p14="http://schemas.microsoft.com/office/powerpoint/2010/main" val="256891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2835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适用场景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4028382" y="214484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3">
            <a:extLst>
              <a:ext uri="{FF2B5EF4-FFF2-40B4-BE49-F238E27FC236}">
                <a16:creationId xmlns:a16="http://schemas.microsoft.com/office/drawing/2014/main" id="{B8197BD9-5548-4803-9FD3-0426FC1BDC90}"/>
              </a:ext>
            </a:extLst>
          </p:cNvPr>
          <p:cNvSpPr txBox="1"/>
          <p:nvPr/>
        </p:nvSpPr>
        <p:spPr>
          <a:xfrm>
            <a:off x="1032493" y="1247886"/>
            <a:ext cx="840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场景一：</a:t>
            </a:r>
          </a:p>
        </p:txBody>
      </p:sp>
      <p:sp>
        <p:nvSpPr>
          <p:cNvPr id="7" name="TextBox 93">
            <a:extLst>
              <a:ext uri="{FF2B5EF4-FFF2-40B4-BE49-F238E27FC236}">
                <a16:creationId xmlns:a16="http://schemas.microsoft.com/office/drawing/2014/main" id="{C2774C6F-C59F-4B77-B6C1-AA2CF126713A}"/>
              </a:ext>
            </a:extLst>
          </p:cNvPr>
          <p:cNvSpPr txBox="1"/>
          <p:nvPr/>
        </p:nvSpPr>
        <p:spPr>
          <a:xfrm>
            <a:off x="1032493" y="1963704"/>
            <a:ext cx="840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创建一个虚拟串口对，进行两个串口之间的数据发送</a:t>
            </a:r>
          </a:p>
        </p:txBody>
      </p:sp>
      <p:sp>
        <p:nvSpPr>
          <p:cNvPr id="8" name="TextBox 93">
            <a:extLst>
              <a:ext uri="{FF2B5EF4-FFF2-40B4-BE49-F238E27FC236}">
                <a16:creationId xmlns:a16="http://schemas.microsoft.com/office/drawing/2014/main" id="{2A7FC542-A3D8-4663-A54D-0DAAF0D4F30A}"/>
              </a:ext>
            </a:extLst>
          </p:cNvPr>
          <p:cNvSpPr txBox="1"/>
          <p:nvPr/>
        </p:nvSpPr>
        <p:spPr>
          <a:xfrm>
            <a:off x="1032493" y="2831923"/>
            <a:ext cx="840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场景二：</a:t>
            </a:r>
          </a:p>
        </p:txBody>
      </p:sp>
      <p:sp>
        <p:nvSpPr>
          <p:cNvPr id="9" name="TextBox 93">
            <a:extLst>
              <a:ext uri="{FF2B5EF4-FFF2-40B4-BE49-F238E27FC236}">
                <a16:creationId xmlns:a16="http://schemas.microsoft.com/office/drawing/2014/main" id="{E01BBE00-A60E-4103-BFE7-AF2ED3F28254}"/>
              </a:ext>
            </a:extLst>
          </p:cNvPr>
          <p:cNvSpPr txBox="1"/>
          <p:nvPr/>
        </p:nvSpPr>
        <p:spPr>
          <a:xfrm>
            <a:off x="1032493" y="3564413"/>
            <a:ext cx="8408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创建一个虚拟串口对，连接一个串口，打开串口助手，用我们开发的软件进行通讯连接，从而进行测试我们的软件。</a:t>
            </a:r>
          </a:p>
        </p:txBody>
      </p:sp>
      <p:sp>
        <p:nvSpPr>
          <p:cNvPr id="11" name="TextBox 93">
            <a:extLst>
              <a:ext uri="{FF2B5EF4-FFF2-40B4-BE49-F238E27FC236}">
                <a16:creationId xmlns:a16="http://schemas.microsoft.com/office/drawing/2014/main" id="{CCBE0426-9DEF-4149-ADE1-FD1CC9E70017}"/>
              </a:ext>
            </a:extLst>
          </p:cNvPr>
          <p:cNvSpPr txBox="1"/>
          <p:nvPr/>
        </p:nvSpPr>
        <p:spPr>
          <a:xfrm>
            <a:off x="950692" y="5522884"/>
            <a:ext cx="8408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一般情形下，我们更多的是在没有下位机的情形下，使用虚拟串口进行测试我们的上位机软件。</a:t>
            </a:r>
          </a:p>
        </p:txBody>
      </p:sp>
      <p:sp>
        <p:nvSpPr>
          <p:cNvPr id="12" name="TextBox 93">
            <a:extLst>
              <a:ext uri="{FF2B5EF4-FFF2-40B4-BE49-F238E27FC236}">
                <a16:creationId xmlns:a16="http://schemas.microsoft.com/office/drawing/2014/main" id="{5D3CF826-F07B-46A9-A64D-CE5FEC43C893}"/>
              </a:ext>
            </a:extLst>
          </p:cNvPr>
          <p:cNvSpPr txBox="1"/>
          <p:nvPr/>
        </p:nvSpPr>
        <p:spPr>
          <a:xfrm>
            <a:off x="950692" y="5148449"/>
            <a:ext cx="840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总结：</a:t>
            </a:r>
          </a:p>
        </p:txBody>
      </p:sp>
    </p:spTree>
    <p:extLst>
      <p:ext uri="{BB962C8B-B14F-4D97-AF65-F5344CB8AC3E}">
        <p14:creationId xmlns:p14="http://schemas.microsoft.com/office/powerpoint/2010/main" val="83965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300"/>
                            </p:stCondLst>
                            <p:childTnLst>
                              <p:par>
                                <p:cTn id="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8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3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10" grpId="0"/>
      <p:bldP spid="7" grpId="0"/>
      <p:bldP spid="8" grpId="0"/>
      <p:bldP spid="9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DFC6261A-2922-41AD-9A03-9669DFF42F5B}"/>
              </a:ext>
            </a:extLst>
          </p:cNvPr>
          <p:cNvGrpSpPr/>
          <p:nvPr/>
        </p:nvGrpSpPr>
        <p:grpSpPr>
          <a:xfrm>
            <a:off x="4407634" y="488785"/>
            <a:ext cx="1760370" cy="1619656"/>
            <a:chOff x="2683251" y="1980687"/>
            <a:chExt cx="1301106" cy="1301106"/>
          </a:xfrm>
          <a:effectLst>
            <a:outerShdw blurRad="2540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88E387F9-5A44-41D6-8C01-EDA307E44D57}"/>
                </a:ext>
              </a:extLst>
            </p:cNvPr>
            <p:cNvSpPr/>
            <p:nvPr/>
          </p:nvSpPr>
          <p:spPr>
            <a:xfrm>
              <a:off x="2683251" y="1980687"/>
              <a:ext cx="1301106" cy="1301106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107">
              <a:extLst>
                <a:ext uri="{FF2B5EF4-FFF2-40B4-BE49-F238E27FC236}">
                  <a16:creationId xmlns:a16="http://schemas.microsoft.com/office/drawing/2014/main" id="{9BC82859-0D12-4D41-82CA-32907FB6F94D}"/>
                </a:ext>
              </a:extLst>
            </p:cNvPr>
            <p:cNvSpPr txBox="1"/>
            <p:nvPr/>
          </p:nvSpPr>
          <p:spPr>
            <a:xfrm>
              <a:off x="3002623" y="2185262"/>
              <a:ext cx="622254" cy="89007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6600" dirty="0">
                  <a:solidFill>
                    <a:schemeClr val="bg1"/>
                  </a:solidFill>
                  <a:latin typeface="Watford DB" pitchFamily="2" charset="0"/>
                  <a:ea typeface="造字工房劲黑（非商用）常规体" pitchFamily="50" charset="-122"/>
                </a:rPr>
                <a:t>3</a:t>
              </a:r>
              <a:endParaRPr lang="zh-CN" altLang="en-US" sz="6600" dirty="0">
                <a:solidFill>
                  <a:schemeClr val="bg1"/>
                </a:solidFill>
                <a:latin typeface="Watford DB" pitchFamily="2" charset="0"/>
                <a:ea typeface="造字工房劲黑（非商用）常规体" pitchFamily="50" charset="-122"/>
              </a:endParaRP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C33B13F-6483-47AC-9196-C53538693454}"/>
              </a:ext>
            </a:extLst>
          </p:cNvPr>
          <p:cNvCxnSpPr>
            <a:cxnSpLocks/>
          </p:cNvCxnSpPr>
          <p:nvPr/>
        </p:nvCxnSpPr>
        <p:spPr>
          <a:xfrm flipH="1">
            <a:off x="2253674" y="2515573"/>
            <a:ext cx="6068290" cy="346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9">
            <a:extLst>
              <a:ext uri="{FF2B5EF4-FFF2-40B4-BE49-F238E27FC236}">
                <a16:creationId xmlns:a16="http://schemas.microsoft.com/office/drawing/2014/main" id="{05747288-4E1C-4AF8-8643-349F78376E77}"/>
              </a:ext>
            </a:extLst>
          </p:cNvPr>
          <p:cNvSpPr txBox="1"/>
          <p:nvPr/>
        </p:nvSpPr>
        <p:spPr>
          <a:xfrm>
            <a:off x="3016818" y="4314089"/>
            <a:ext cx="44727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Font typeface="Wingdings" pitchFamily="2" charset="2"/>
              <a:buChar char="l"/>
            </a:pP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  串口助手的使用</a:t>
            </a:r>
          </a:p>
        </p:txBody>
      </p:sp>
      <p:sp>
        <p:nvSpPr>
          <p:cNvPr id="34" name="文本框 9">
            <a:extLst>
              <a:ext uri="{FF2B5EF4-FFF2-40B4-BE49-F238E27FC236}">
                <a16:creationId xmlns:a16="http://schemas.microsoft.com/office/drawing/2014/main" id="{DF474439-9945-436E-8CEC-F6852CB2253E}"/>
              </a:ext>
            </a:extLst>
          </p:cNvPr>
          <p:cNvSpPr txBox="1"/>
          <p:nvPr/>
        </p:nvSpPr>
        <p:spPr>
          <a:xfrm>
            <a:off x="3016818" y="3108788"/>
            <a:ext cx="665712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Font typeface="Wingdings" pitchFamily="2" charset="2"/>
              <a:buChar char="l"/>
            </a:pP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  虚拟串口的使用</a:t>
            </a:r>
          </a:p>
        </p:txBody>
      </p:sp>
      <p:sp>
        <p:nvSpPr>
          <p:cNvPr id="8" name="文本框 9">
            <a:extLst>
              <a:ext uri="{FF2B5EF4-FFF2-40B4-BE49-F238E27FC236}">
                <a16:creationId xmlns:a16="http://schemas.microsoft.com/office/drawing/2014/main" id="{6AF2CA6B-FCFE-43E9-AFEA-FE6C44ABE2D5}"/>
              </a:ext>
            </a:extLst>
          </p:cNvPr>
          <p:cNvSpPr txBox="1"/>
          <p:nvPr/>
        </p:nvSpPr>
        <p:spPr>
          <a:xfrm>
            <a:off x="3016817" y="5519390"/>
            <a:ext cx="44727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lvl="1" indent="-171450">
              <a:buFont typeface="Wingdings" pitchFamily="2" charset="2"/>
              <a:buChar char="l"/>
            </a:pP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  通讯</a:t>
            </a:r>
            <a:r>
              <a:rPr lang="en-US" altLang="zh-CN" sz="4000" dirty="0">
                <a:latin typeface="微软雅黑" pitchFamily="34" charset="-122"/>
                <a:ea typeface="微软雅黑" pitchFamily="34" charset="-122"/>
              </a:rPr>
              <a:t>--</a:t>
            </a:r>
            <a:r>
              <a:rPr lang="zh-CN" altLang="en-US" sz="4000" dirty="0">
                <a:latin typeface="微软雅黑" pitchFamily="34" charset="-122"/>
                <a:ea typeface="微软雅黑" pitchFamily="34" charset="-122"/>
              </a:rPr>
              <a:t>收发数据</a:t>
            </a:r>
          </a:p>
        </p:txBody>
      </p:sp>
    </p:spTree>
    <p:extLst>
      <p:ext uri="{BB962C8B-B14F-4D97-AF65-F5344CB8AC3E}">
        <p14:creationId xmlns:p14="http://schemas.microsoft.com/office/powerpoint/2010/main" val="116033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4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090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虚拟串口使用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82935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47938" y="1109341"/>
            <a:ext cx="594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1.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双击虚拟串口运行程序</a:t>
            </a:r>
          </a:p>
        </p:txBody>
      </p:sp>
      <p:sp>
        <p:nvSpPr>
          <p:cNvPr id="31" name="TextBox 93">
            <a:extLst>
              <a:ext uri="{FF2B5EF4-FFF2-40B4-BE49-F238E27FC236}">
                <a16:creationId xmlns:a16="http://schemas.microsoft.com/office/drawing/2014/main" id="{56FDC03A-8AFE-4332-A697-E4B86D667549}"/>
              </a:ext>
            </a:extLst>
          </p:cNvPr>
          <p:cNvSpPr txBox="1"/>
          <p:nvPr/>
        </p:nvSpPr>
        <p:spPr>
          <a:xfrm>
            <a:off x="947937" y="1779141"/>
            <a:ext cx="884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2.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创建虚拟串口对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,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就会发现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virtual ports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处多了一对虚拟串口对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050B9B-506D-4DE3-B511-76865FD7B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94" y="2818274"/>
            <a:ext cx="3973036" cy="2594236"/>
          </a:xfrm>
          <a:prstGeom prst="rect">
            <a:avLst/>
          </a:prstGeom>
        </p:spPr>
      </p:pic>
      <p:sp>
        <p:nvSpPr>
          <p:cNvPr id="12" name="箭头: 右 11">
            <a:extLst>
              <a:ext uri="{FF2B5EF4-FFF2-40B4-BE49-F238E27FC236}">
                <a16:creationId xmlns:a16="http://schemas.microsoft.com/office/drawing/2014/main" id="{F8B97E7D-D9C9-4722-A350-2C83F4B4B490}"/>
              </a:ext>
            </a:extLst>
          </p:cNvPr>
          <p:cNvSpPr/>
          <p:nvPr/>
        </p:nvSpPr>
        <p:spPr>
          <a:xfrm>
            <a:off x="4991953" y="4093796"/>
            <a:ext cx="849342" cy="34159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67282A-4D20-4526-8E6D-0BB1E213C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295" y="2813755"/>
            <a:ext cx="3973036" cy="2598756"/>
          </a:xfrm>
          <a:prstGeom prst="rect">
            <a:avLst/>
          </a:prstGeom>
        </p:spPr>
      </p:pic>
      <p:sp>
        <p:nvSpPr>
          <p:cNvPr id="15" name="TextBox 93">
            <a:extLst>
              <a:ext uri="{FF2B5EF4-FFF2-40B4-BE49-F238E27FC236}">
                <a16:creationId xmlns:a16="http://schemas.microsoft.com/office/drawing/2014/main" id="{453FC3BD-6E54-41EC-A87A-94E66846BAD3}"/>
              </a:ext>
            </a:extLst>
          </p:cNvPr>
          <p:cNvSpPr txBox="1"/>
          <p:nvPr/>
        </p:nvSpPr>
        <p:spPr>
          <a:xfrm>
            <a:off x="938794" y="5623633"/>
            <a:ext cx="884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当然，你也可以继续增加多对虚拟端口对，也可以进行删除，或者自定义串口对中的端口号进行创建端口对。</a:t>
            </a:r>
          </a:p>
        </p:txBody>
      </p:sp>
    </p:spTree>
    <p:extLst>
      <p:ext uri="{BB962C8B-B14F-4D97-AF65-F5344CB8AC3E}">
        <p14:creationId xmlns:p14="http://schemas.microsoft.com/office/powerpoint/2010/main" val="27257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31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090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虚拟串口使用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82935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47937" y="1109341"/>
            <a:ext cx="9295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3.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自定义端口号的串口对创建方法如下：先点击红色圈处下拉框进行端口号的选择，最后选择添加端口，就完成创建了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F2CFA4-BB00-4272-AA4F-D408C8491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37" y="1940338"/>
            <a:ext cx="3087431" cy="2024545"/>
          </a:xfrm>
          <a:prstGeom prst="rect">
            <a:avLst/>
          </a:prstGeom>
        </p:spPr>
      </p:pic>
      <p:sp>
        <p:nvSpPr>
          <p:cNvPr id="14" name="箭头: 右 13">
            <a:extLst>
              <a:ext uri="{FF2B5EF4-FFF2-40B4-BE49-F238E27FC236}">
                <a16:creationId xmlns:a16="http://schemas.microsoft.com/office/drawing/2014/main" id="{4438C48F-D62F-4D95-8786-9E0DDD54C797}"/>
              </a:ext>
            </a:extLst>
          </p:cNvPr>
          <p:cNvSpPr/>
          <p:nvPr/>
        </p:nvSpPr>
        <p:spPr>
          <a:xfrm>
            <a:off x="4416410" y="2823460"/>
            <a:ext cx="849342" cy="34159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2D0533-3A33-4110-800D-6C8F63F90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435" y="1940339"/>
            <a:ext cx="3087432" cy="2032814"/>
          </a:xfrm>
          <a:prstGeom prst="rect">
            <a:avLst/>
          </a:prstGeom>
        </p:spPr>
      </p:pic>
      <p:sp>
        <p:nvSpPr>
          <p:cNvPr id="17" name="TextBox 93">
            <a:extLst>
              <a:ext uri="{FF2B5EF4-FFF2-40B4-BE49-F238E27FC236}">
                <a16:creationId xmlns:a16="http://schemas.microsoft.com/office/drawing/2014/main" id="{6DAF64F3-C1B4-4039-87A9-C80C854D15BF}"/>
              </a:ext>
            </a:extLst>
          </p:cNvPr>
          <p:cNvSpPr txBox="1"/>
          <p:nvPr/>
        </p:nvSpPr>
        <p:spPr>
          <a:xfrm>
            <a:off x="785840" y="3955007"/>
            <a:ext cx="92951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4.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删除不想要的端口对方法如下：先在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virtual ports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选取一对串口对，然后选择删除端口即完成操作。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72D8C4-E086-431C-BD54-1D30E7D06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37" y="4821639"/>
            <a:ext cx="3014463" cy="1988050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D1C367A3-9D7C-41C8-8A72-3C7756CE5914}"/>
              </a:ext>
            </a:extLst>
          </p:cNvPr>
          <p:cNvSpPr/>
          <p:nvPr/>
        </p:nvSpPr>
        <p:spPr>
          <a:xfrm>
            <a:off x="4239894" y="5615196"/>
            <a:ext cx="849342" cy="34159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041FD7E-7F24-4CAC-BF47-F7A4E3A7A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435" y="4816574"/>
            <a:ext cx="3014463" cy="199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7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090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串口助手使用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82935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47938" y="1109341"/>
            <a:ext cx="594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1.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双击串口助手的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exe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运行程序</a:t>
            </a:r>
          </a:p>
        </p:txBody>
      </p:sp>
      <p:sp>
        <p:nvSpPr>
          <p:cNvPr id="31" name="TextBox 93">
            <a:extLst>
              <a:ext uri="{FF2B5EF4-FFF2-40B4-BE49-F238E27FC236}">
                <a16:creationId xmlns:a16="http://schemas.microsoft.com/office/drawing/2014/main" id="{56FDC03A-8AFE-4332-A697-E4B86D667549}"/>
              </a:ext>
            </a:extLst>
          </p:cNvPr>
          <p:cNvSpPr txBox="1"/>
          <p:nvPr/>
        </p:nvSpPr>
        <p:spPr>
          <a:xfrm>
            <a:off x="947937" y="1779141"/>
            <a:ext cx="884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2.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如果你已经通过虚拟串口软件创建了虚拟串口对，你就会在此处发现多了两个端口号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D271DB-634E-4DED-A5CF-A52EAACEC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2610138"/>
            <a:ext cx="4374238" cy="334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3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090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串口助手使用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82935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29465" y="1014459"/>
            <a:ext cx="8916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3.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然后开始选择其中一个端口号，并且点击更多串口设置进行设置相应的参数，例如波特率、数据位、校验位等</a:t>
            </a:r>
          </a:p>
        </p:txBody>
      </p:sp>
      <p:sp>
        <p:nvSpPr>
          <p:cNvPr id="11" name="TextBox 93">
            <a:extLst>
              <a:ext uri="{FF2B5EF4-FFF2-40B4-BE49-F238E27FC236}">
                <a16:creationId xmlns:a16="http://schemas.microsoft.com/office/drawing/2014/main" id="{516DDE5B-08EE-4389-93DC-7B59690CEDAE}"/>
              </a:ext>
            </a:extLst>
          </p:cNvPr>
          <p:cNvSpPr txBox="1"/>
          <p:nvPr/>
        </p:nvSpPr>
        <p:spPr>
          <a:xfrm>
            <a:off x="1032493" y="4131594"/>
            <a:ext cx="9064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4.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点击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ok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，进行打开串口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66697B-41EF-4E86-8AB6-423D6B7CD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1787749"/>
            <a:ext cx="3400962" cy="21654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5A30ACF-EF79-4258-9042-BC18A5769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4" y="4593259"/>
            <a:ext cx="2994562" cy="221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9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090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串口助手使用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182935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47938" y="1149440"/>
            <a:ext cx="8113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5.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在打开一个串口助手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exe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运行程序，然后进行步骤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3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和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4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的操作，注意端口号要选择虚拟串口对的另外一个端口号，这样实现了串口的连接。</a:t>
            </a:r>
          </a:p>
        </p:txBody>
      </p:sp>
      <p:sp>
        <p:nvSpPr>
          <p:cNvPr id="11" name="TextBox 93">
            <a:extLst>
              <a:ext uri="{FF2B5EF4-FFF2-40B4-BE49-F238E27FC236}">
                <a16:creationId xmlns:a16="http://schemas.microsoft.com/office/drawing/2014/main" id="{516DDE5B-08EE-4389-93DC-7B59690CEDAE}"/>
              </a:ext>
            </a:extLst>
          </p:cNvPr>
          <p:cNvSpPr txBox="1"/>
          <p:nvPr/>
        </p:nvSpPr>
        <p:spPr>
          <a:xfrm>
            <a:off x="947938" y="2505248"/>
            <a:ext cx="9064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6.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接下来我们就可以进行两个串口的互相收发数据了。在发送区进行编辑内容后点击发送，另外一个串口就收到了数据，当然你还可以根据实际需要进行文本格式发送等。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19C7A5-0EAF-46CF-9339-C87041E7F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3888746"/>
            <a:ext cx="7610763" cy="284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43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090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通讯</a:t>
            </a:r>
            <a:r>
              <a:rPr lang="en-US" altLang="zh-CN" sz="4000" spc="300" dirty="0">
                <a:latin typeface="方正兰亭细黑_GBK" pitchFamily="2" charset="-122"/>
                <a:ea typeface="方正兰亭细黑_GBK" pitchFamily="2" charset="-122"/>
              </a:rPr>
              <a:t>-</a:t>
            </a:r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收发数据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432315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93">
            <a:extLst>
              <a:ext uri="{FF2B5EF4-FFF2-40B4-BE49-F238E27FC236}">
                <a16:creationId xmlns:a16="http://schemas.microsoft.com/office/drawing/2014/main" id="{76934450-932E-496A-960F-FCE3CBBD6D82}"/>
              </a:ext>
            </a:extLst>
          </p:cNvPr>
          <p:cNvSpPr txBox="1"/>
          <p:nvPr/>
        </p:nvSpPr>
        <p:spPr>
          <a:xfrm>
            <a:off x="947938" y="1109341"/>
            <a:ext cx="8113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  上面演示了两个虚拟对的通讯使用，当然那种不切合实际，我们实际更多的是要进行上位机测试，接下来我们进行演示场景二。</a:t>
            </a:r>
          </a:p>
        </p:txBody>
      </p:sp>
      <p:sp>
        <p:nvSpPr>
          <p:cNvPr id="11" name="TextBox 93">
            <a:extLst>
              <a:ext uri="{FF2B5EF4-FFF2-40B4-BE49-F238E27FC236}">
                <a16:creationId xmlns:a16="http://schemas.microsoft.com/office/drawing/2014/main" id="{81758898-6D8C-4F14-8B17-B2A3BA751697}"/>
              </a:ext>
            </a:extLst>
          </p:cNvPr>
          <p:cNvSpPr txBox="1"/>
          <p:nvPr/>
        </p:nvSpPr>
        <p:spPr>
          <a:xfrm>
            <a:off x="1032493" y="2517805"/>
            <a:ext cx="75203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1.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打开虚拟串口，进行创建虚拟端口对，这里我以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COM1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和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COM2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为例。</a:t>
            </a:r>
          </a:p>
        </p:txBody>
      </p:sp>
      <p:sp>
        <p:nvSpPr>
          <p:cNvPr id="12" name="TextBox 93">
            <a:extLst>
              <a:ext uri="{FF2B5EF4-FFF2-40B4-BE49-F238E27FC236}">
                <a16:creationId xmlns:a16="http://schemas.microsoft.com/office/drawing/2014/main" id="{A5122952-2154-499E-AE14-436A6DCE5EF5}"/>
              </a:ext>
            </a:extLst>
          </p:cNvPr>
          <p:cNvSpPr txBox="1"/>
          <p:nvPr/>
        </p:nvSpPr>
        <p:spPr>
          <a:xfrm>
            <a:off x="1032493" y="3348802"/>
            <a:ext cx="9155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2.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打开你的上位机软件，并在上位机中设置好参数，记得端口号一定要选择虚拟的端口对中的其中一个，运行上位机，如果连接成功，就会发现虚拟串口中出现你设置的参数。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3EB8A8-7625-4512-ACD1-630619E81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4549131"/>
            <a:ext cx="3022338" cy="2100386"/>
          </a:xfrm>
          <a:prstGeom prst="rect">
            <a:avLst/>
          </a:prstGeom>
        </p:spPr>
      </p:pic>
      <p:sp>
        <p:nvSpPr>
          <p:cNvPr id="17" name="箭头: 右 16">
            <a:extLst>
              <a:ext uri="{FF2B5EF4-FFF2-40B4-BE49-F238E27FC236}">
                <a16:creationId xmlns:a16="http://schemas.microsoft.com/office/drawing/2014/main" id="{CF3E0154-B508-4D1C-B34D-4CCE92C1AB77}"/>
              </a:ext>
            </a:extLst>
          </p:cNvPr>
          <p:cNvSpPr/>
          <p:nvPr/>
        </p:nvSpPr>
        <p:spPr>
          <a:xfrm>
            <a:off x="4368012" y="5599324"/>
            <a:ext cx="849342" cy="34159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9B5D8E-CF7E-484F-9033-F00F0F2BC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535" y="4497953"/>
            <a:ext cx="3510658" cy="229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1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28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090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通讯</a:t>
            </a:r>
            <a:r>
              <a:rPr lang="en-US" altLang="zh-CN" sz="4000" spc="300" dirty="0">
                <a:latin typeface="方正兰亭细黑_GBK" pitchFamily="2" charset="-122"/>
                <a:ea typeface="方正兰亭细黑_GBK" pitchFamily="2" charset="-122"/>
              </a:rPr>
              <a:t>-</a:t>
            </a:r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收发数据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432315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93">
            <a:extLst>
              <a:ext uri="{FF2B5EF4-FFF2-40B4-BE49-F238E27FC236}">
                <a16:creationId xmlns:a16="http://schemas.microsoft.com/office/drawing/2014/main" id="{81758898-6D8C-4F14-8B17-B2A3BA751697}"/>
              </a:ext>
            </a:extLst>
          </p:cNvPr>
          <p:cNvSpPr txBox="1"/>
          <p:nvPr/>
        </p:nvSpPr>
        <p:spPr>
          <a:xfrm>
            <a:off x="1032493" y="1027139"/>
            <a:ext cx="8296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3.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然后打开串口助手，进行另外一个端口号的打开，此时波特率那些参数要和上位机中一致，这样就完成了通讯连接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914090-86C9-46B6-84F8-DDD5C8160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117" y="2279629"/>
            <a:ext cx="3365098" cy="2514104"/>
          </a:xfrm>
          <a:prstGeom prst="rect">
            <a:avLst/>
          </a:prstGeom>
        </p:spPr>
      </p:pic>
      <p:sp>
        <p:nvSpPr>
          <p:cNvPr id="14" name="TextBox 93">
            <a:extLst>
              <a:ext uri="{FF2B5EF4-FFF2-40B4-BE49-F238E27FC236}">
                <a16:creationId xmlns:a16="http://schemas.microsoft.com/office/drawing/2014/main" id="{305D3867-89AF-4F48-90D9-094C89288358}"/>
              </a:ext>
            </a:extLst>
          </p:cNvPr>
          <p:cNvSpPr txBox="1"/>
          <p:nvPr/>
        </p:nvSpPr>
        <p:spPr>
          <a:xfrm>
            <a:off x="1127172" y="4926092"/>
            <a:ext cx="8413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注意：如果你使用上位机已经占用的端口号进行打开串口会进行报错，或者参数设置不一样也可能会造成报错</a:t>
            </a:r>
          </a:p>
        </p:txBody>
      </p:sp>
    </p:spTree>
    <p:extLst>
      <p:ext uri="{BB962C8B-B14F-4D97-AF65-F5344CB8AC3E}">
        <p14:creationId xmlns:p14="http://schemas.microsoft.com/office/powerpoint/2010/main" val="314739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11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>
            <a:extLst>
              <a:ext uri="{FF2B5EF4-FFF2-40B4-BE49-F238E27FC236}">
                <a16:creationId xmlns:a16="http://schemas.microsoft.com/office/drawing/2014/main" id="{B25348A5-BE14-4FB3-800C-293C509AB661}"/>
              </a:ext>
            </a:extLst>
          </p:cNvPr>
          <p:cNvSpPr/>
          <p:nvPr/>
        </p:nvSpPr>
        <p:spPr>
          <a:xfrm>
            <a:off x="1164117" y="251428"/>
            <a:ext cx="490402" cy="441642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TextBox 93">
            <a:extLst>
              <a:ext uri="{FF2B5EF4-FFF2-40B4-BE49-F238E27FC236}">
                <a16:creationId xmlns:a16="http://schemas.microsoft.com/office/drawing/2014/main" id="{B0E3E0DC-D55C-4F2A-8FF4-343C48309F5F}"/>
              </a:ext>
            </a:extLst>
          </p:cNvPr>
          <p:cNvSpPr txBox="1"/>
          <p:nvPr/>
        </p:nvSpPr>
        <p:spPr>
          <a:xfrm>
            <a:off x="1654520" y="67386"/>
            <a:ext cx="4090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通讯</a:t>
            </a:r>
            <a:r>
              <a:rPr lang="en-US" altLang="zh-CN" sz="4000" spc="300" dirty="0">
                <a:latin typeface="方正兰亭细黑_GBK" pitchFamily="2" charset="-122"/>
                <a:ea typeface="方正兰亭细黑_GBK" pitchFamily="2" charset="-122"/>
              </a:rPr>
              <a:t>-</a:t>
            </a:r>
            <a:r>
              <a:rPr lang="zh-CN" altLang="en-US" sz="4000" spc="300" dirty="0">
                <a:latin typeface="方正兰亭细黑_GBK" pitchFamily="2" charset="-122"/>
                <a:ea typeface="方正兰亭细黑_GBK" pitchFamily="2" charset="-122"/>
              </a:rPr>
              <a:t>收发数据</a:t>
            </a:r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0F73BF-1D88-4ECC-9856-01DD88987433}"/>
              </a:ext>
            </a:extLst>
          </p:cNvPr>
          <p:cNvCxnSpPr>
            <a:cxnSpLocks/>
          </p:cNvCxnSpPr>
          <p:nvPr/>
        </p:nvCxnSpPr>
        <p:spPr>
          <a:xfrm>
            <a:off x="5432315" y="251428"/>
            <a:ext cx="0" cy="4416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A22B51F-4221-49B4-A812-F94503AB5AE1}"/>
              </a:ext>
            </a:extLst>
          </p:cNvPr>
          <p:cNvCxnSpPr/>
          <p:nvPr/>
        </p:nvCxnSpPr>
        <p:spPr>
          <a:xfrm>
            <a:off x="1032493" y="901205"/>
            <a:ext cx="811348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93">
            <a:extLst>
              <a:ext uri="{FF2B5EF4-FFF2-40B4-BE49-F238E27FC236}">
                <a16:creationId xmlns:a16="http://schemas.microsoft.com/office/drawing/2014/main" id="{81758898-6D8C-4F14-8B17-B2A3BA751697}"/>
              </a:ext>
            </a:extLst>
          </p:cNvPr>
          <p:cNvSpPr txBox="1"/>
          <p:nvPr/>
        </p:nvSpPr>
        <p:spPr>
          <a:xfrm>
            <a:off x="1032493" y="1027139"/>
            <a:ext cx="8296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4.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此时我进行一个扫码枪模拟实验，假设端口号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2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（扫码枪）中已经接受触发并且存储了数据“女神，你好”。</a:t>
            </a:r>
          </a:p>
        </p:txBody>
      </p:sp>
      <p:sp>
        <p:nvSpPr>
          <p:cNvPr id="9" name="TextBox 93">
            <a:extLst>
              <a:ext uri="{FF2B5EF4-FFF2-40B4-BE49-F238E27FC236}">
                <a16:creationId xmlns:a16="http://schemas.microsoft.com/office/drawing/2014/main" id="{5CA19E87-2751-43B1-8A67-10F362880274}"/>
              </a:ext>
            </a:extLst>
          </p:cNvPr>
          <p:cNvSpPr txBox="1"/>
          <p:nvPr/>
        </p:nvSpPr>
        <p:spPr>
          <a:xfrm>
            <a:off x="1032493" y="2481867"/>
            <a:ext cx="87395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5.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然后上位机发送数据“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0x0A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”</a:t>
            </a:r>
            <a:r>
              <a:rPr lang="en-US" altLang="zh-CN" sz="2400" spc="300" dirty="0">
                <a:latin typeface="方正兰亭细黑_GBK" pitchFamily="2" charset="-122"/>
                <a:ea typeface="方正兰亭细黑_GBK" pitchFamily="2" charset="-122"/>
              </a:rPr>
              <a:t>,</a:t>
            </a:r>
            <a:r>
              <a:rPr lang="zh-CN" altLang="en-US" sz="2400" spc="300" dirty="0">
                <a:latin typeface="方正兰亭细黑_GBK" pitchFamily="2" charset="-122"/>
                <a:ea typeface="方正兰亭细黑_GBK" pitchFamily="2" charset="-122"/>
              </a:rPr>
              <a:t>进行发送数据，要求扫码枪返还数据。如果上位机收到了信息就说明完成通讯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AC793D-F7FF-4EEC-8292-7D18EEDA7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3" y="3481138"/>
            <a:ext cx="7280234" cy="312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0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8" grpId="0"/>
      <p:bldP spid="11" grpId="0"/>
      <p:bldP spid="9" grpId="0"/>
    </p:bld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229</TotalTime>
  <Words>1052</Words>
  <Application>Microsoft Office PowerPoint</Application>
  <PresentationFormat>宽屏</PresentationFormat>
  <Paragraphs>78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Watford DB</vt:lpstr>
      <vt:lpstr>Yu Gothic UI</vt:lpstr>
      <vt:lpstr>方正大黑简体</vt:lpstr>
      <vt:lpstr>方正兰亭细黑_GBK</vt:lpstr>
      <vt:lpstr>方正姚体</vt:lpstr>
      <vt:lpstr>方正韵动中黑简体</vt:lpstr>
      <vt:lpstr>Microsoft YaHei</vt:lpstr>
      <vt:lpstr>Microsoft YaHei</vt:lpstr>
      <vt:lpstr>Arial</vt:lpstr>
      <vt:lpstr>Calibri</vt:lpstr>
      <vt:lpstr>Trebuchet MS</vt:lpstr>
      <vt:lpstr>Wingdings</vt:lpstr>
      <vt:lpstr>Wingdings 3</vt:lpstr>
      <vt:lpstr>平面</vt:lpstr>
      <vt:lpstr>主题：         虚拟串口的使用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主题：         虚拟串口的使用</dc:title>
  <dc:creator>柏 旺</dc:creator>
  <cp:lastModifiedBy>柏 旺</cp:lastModifiedBy>
  <cp:revision>46</cp:revision>
  <dcterms:created xsi:type="dcterms:W3CDTF">2022-01-05T08:40:25Z</dcterms:created>
  <dcterms:modified xsi:type="dcterms:W3CDTF">2022-01-05T13:26:56Z</dcterms:modified>
</cp:coreProperties>
</file>